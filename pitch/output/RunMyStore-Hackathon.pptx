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06bea3f0db41f2" /><Relationship Type="http://schemas.openxmlformats.org/officeDocument/2006/relationships/extended-properties" Target="/docProps/app.xml" Id="R3d51aeabf3ad4204" /><Relationship Type="http://schemas.openxmlformats.org/officeDocument/2006/relationships/officeDocument" Target="/ppt/presentation.xml" Id="R3a0524367e9a431f" /></Relationships>
</file>

<file path=ppt/presentation.xml><?xml version="1.0" encoding="utf-8"?>
<p:presentation xmlns:p="http://schemas.openxmlformats.org/presentationml/2006/main">
  <p:sldMasterIdLst>
    <p:sldMasterId xmlns:r="http://schemas.openxmlformats.org/officeDocument/2006/relationships" id="2147483648" r:id="R0588dd9a30204bca"/>
  </p:sldMasterIdLst>
  <p:notesMasterIdLst>
    <p:notesMasterId xmlns:r="http://schemas.openxmlformats.org/officeDocument/2006/relationships" r:id="Rc9309de093844846"/>
  </p:notesMasterIdLst>
  <p:sldIdLst>
    <p:sldId xmlns:r="http://schemas.openxmlformats.org/officeDocument/2006/relationships" id="256" r:id="R3fa24e44ef184b58"/>
    <p:sldId xmlns:r="http://schemas.openxmlformats.org/officeDocument/2006/relationships" id="257" r:id="R16834bf67819487d"/>
    <p:sldId xmlns:r="http://schemas.openxmlformats.org/officeDocument/2006/relationships" id="258" r:id="R1d12d6f7cd674c80"/>
    <p:sldId xmlns:r="http://schemas.openxmlformats.org/officeDocument/2006/relationships" id="259" r:id="Rbc64277deb164cf3"/>
    <p:sldId xmlns:r="http://schemas.openxmlformats.org/officeDocument/2006/relationships" id="260" r:id="Rfa36a9f678e54f89"/>
    <p:sldId xmlns:r="http://schemas.openxmlformats.org/officeDocument/2006/relationships" id="261" r:id="R142922ecfaa74634"/>
    <p:sldId xmlns:r="http://schemas.openxmlformats.org/officeDocument/2006/relationships" id="262" r:id="R5f49bb49a9214769"/>
    <p:sldId xmlns:r="http://schemas.openxmlformats.org/officeDocument/2006/relationships" id="263" r:id="Re910b14fd33a4b4b"/>
    <p:sldId xmlns:r="http://schemas.openxmlformats.org/officeDocument/2006/relationships" id="264" r:id="Raf58b8b80b2d4590"/>
    <p:sldId xmlns:r="http://schemas.openxmlformats.org/officeDocument/2006/relationships" id="265" r:id="R987945c28089479d"/>
    <p:sldId xmlns:r="http://schemas.openxmlformats.org/officeDocument/2006/relationships" id="266" r:id="R356b5bee483e4d63"/>
    <p:sldId xmlns:r="http://schemas.openxmlformats.org/officeDocument/2006/relationships" id="267" r:id="Rbf9267b75e7a4e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1d815c045a4228" /><Relationship Type="http://schemas.openxmlformats.org/officeDocument/2006/relationships/slideMaster" Target="/ppt/slideMasters/slideMaster1.xml" Id="R0588dd9a30204bca" /><Relationship Type="http://schemas.openxmlformats.org/officeDocument/2006/relationships/notesMaster" Target="/ppt/notesMasters/notesMaster1.xml" Id="Rc9309de093844846" /><Relationship Type="http://schemas.openxmlformats.org/officeDocument/2006/relationships/presProps" Target="/ppt/presProps.xml" Id="Rd6edf93f52744262" /><Relationship Type="http://schemas.openxmlformats.org/officeDocument/2006/relationships/tableStyles" Target="/ppt/tableStyles.xml" Id="R926c83272a6e4288" /><Relationship Type="http://schemas.openxmlformats.org/officeDocument/2006/relationships/slide" Target="/ppt/slides/slide1.xml" Id="R3fa24e44ef184b58" /><Relationship Type="http://schemas.openxmlformats.org/officeDocument/2006/relationships/slide" Target="/ppt/slides/slide2.xml" Id="R16834bf67819487d" /><Relationship Type="http://schemas.openxmlformats.org/officeDocument/2006/relationships/slide" Target="/ppt/slides/slide3.xml" Id="R1d12d6f7cd674c80" /><Relationship Type="http://schemas.openxmlformats.org/officeDocument/2006/relationships/slide" Target="/ppt/slides/slide4.xml" Id="Rbc64277deb164cf3" /><Relationship Type="http://schemas.openxmlformats.org/officeDocument/2006/relationships/slide" Target="/ppt/slides/slide5.xml" Id="Rfa36a9f678e54f89" /><Relationship Type="http://schemas.openxmlformats.org/officeDocument/2006/relationships/slide" Target="/ppt/slides/slide6.xml" Id="R142922ecfaa74634" /><Relationship Type="http://schemas.openxmlformats.org/officeDocument/2006/relationships/slide" Target="/ppt/slides/slide7.xml" Id="R5f49bb49a9214769" /><Relationship Type="http://schemas.openxmlformats.org/officeDocument/2006/relationships/slide" Target="/ppt/slides/slide8.xml" Id="Re910b14fd33a4b4b" /><Relationship Type="http://schemas.openxmlformats.org/officeDocument/2006/relationships/slide" Target="/ppt/slides/slide9.xml" Id="Raf58b8b80b2d4590" /><Relationship Type="http://schemas.openxmlformats.org/officeDocument/2006/relationships/slide" Target="/ppt/slides/slide10.xml" Id="R987945c28089479d" /><Relationship Type="http://schemas.openxmlformats.org/officeDocument/2006/relationships/slide" Target="/ppt/slides/slide11.xml" Id="R356b5bee483e4d63" /><Relationship Type="http://schemas.openxmlformats.org/officeDocument/2006/relationships/slide" Target="/ppt/slides/slide12.xml" Id="Rbf9267b75e7a4e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f5dc6f023641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468561363a408f" /><Relationship Type="http://schemas.openxmlformats.org/officeDocument/2006/relationships/notesMaster" Target="/ppt/notesMasters/notesMaster1.xml" Id="Ra50e51a763de40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0471acf6c248d8" /><Relationship Type="http://schemas.openxmlformats.org/officeDocument/2006/relationships/notesMaster" Target="/ppt/notesMasters/notesMaster1.xml" Id="R8fb7809ae8364d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12b5e5be8f49d1" /><Relationship Type="http://schemas.openxmlformats.org/officeDocument/2006/relationships/notesMaster" Target="/ppt/notesMasters/notesMaster1.xml" Id="Rdcb41d23eb0f49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9f42b4ba0949c3" /><Relationship Type="http://schemas.openxmlformats.org/officeDocument/2006/relationships/notesMaster" Target="/ppt/notesMasters/notesMaster1.xml" Id="R5371776b26314e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104cc9d1434001" /><Relationship Type="http://schemas.openxmlformats.org/officeDocument/2006/relationships/notesMaster" Target="/ppt/notesMasters/notesMaster1.xml" Id="Rd4fa2ba5e2a64d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e0c5c034d047a2" /><Relationship Type="http://schemas.openxmlformats.org/officeDocument/2006/relationships/notesMaster" Target="/ppt/notesMasters/notesMaster1.xml" Id="Rde7526eb8f944c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25f2277b404b0a" /><Relationship Type="http://schemas.openxmlformats.org/officeDocument/2006/relationships/notesMaster" Target="/ppt/notesMasters/notesMaster1.xml" Id="R828202c1e63e43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70582479c24d72" /><Relationship Type="http://schemas.openxmlformats.org/officeDocument/2006/relationships/notesMaster" Target="/ppt/notesMasters/notesMaster1.xml" Id="Rd1676d41d68b4d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a95644f43b4140" /><Relationship Type="http://schemas.openxmlformats.org/officeDocument/2006/relationships/notesMaster" Target="/ppt/notesMasters/notesMaster1.xml" Id="Rf8bf1b58009345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976ff14b1242e7" /><Relationship Type="http://schemas.openxmlformats.org/officeDocument/2006/relationships/notesMaster" Target="/ppt/notesMasters/notesMaster1.xml" Id="R5b5cfca77ac34d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85a84a40bc45de" /><Relationship Type="http://schemas.openxmlformats.org/officeDocument/2006/relationships/notesMaster" Target="/ppt/notesMasters/notesMaster1.xml" Id="Rc357217cd3f640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49c4ee350343c5" /><Relationship Type="http://schemas.openxmlformats.org/officeDocument/2006/relationships/notesMaster" Target="/ppt/notesMasters/notesMaster1.xml" Id="R769e007763c448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founder, not the technology. RunMyStore aims to reduce the coordination work behind an online store. This is a frontend prototype, not a live autonomous business. Image: existing RunMyStore demo asset, public/assets/cat-studio.webp.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hypothesis: independent merchants carry product context across several tools and repeatedly coordinate work themselves. Public anecdotes suggest app overhead and occasional latency, but we have not measured prevalence or interviewed our own customer cohort yet. Sources S3, S4 and S5 in research/sources.json.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initial customer profile, not a validated segmentation study: owner-operated consumer brands selling physical products, initially in English and eventually globally. Prioritize merchants with an existing catalog and recurring campaign work. Avoid enterprise migrations and regulated product claims during the first pilot. Image: existing demo asset linen-tote.webp.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accessed 24 Oct 2026. Store Leads report updated 16 Oct 2026: https://storeleads.app/reports. Detected live domains: 14,005,842 worldwide; Shopify subset: 3,163,099. Domains are not unique businesses. Some may not buy this product. Hypotheses: 10% qualify and an annual subscription of $99 × 12 = $1,188. Indicative annual TAM $1,663,894,029.60; Shopify SAM $375,776,161.20. Neither is measured demand, a revenue forecast or GMV. We must deduplicate brands and validate qualification and willingness to pay. At 5% and 15% fit the TAM sensitivity is approximately $832M to $2.50B. These are model scenarios, not confidence bounds.</a:t>
            </a:r>
          </a:p>
          <a:p xmlns:a="http://schemas.openxmlformats.org/drawingml/2006/main">
            <a:r>
              <a:t/>
            </a:r>
          </a:p>
          <a:p xmlns:a="http://schemas.openxmlformats.org/drawingml/2006/main">
            <a:r>
              <a:t>Both visible post cards are fictional illustrations. No real person said this wording; they are not X screenshots. Real anecdotal support: Central_Hobbies, 29 Apr 2026, Shopify Community: “It takes several seconds to over a minute for anything I do on the admin page or sidekick to respond.” https://community.shopify.com/t/admin-and-sidekick-slow-to-respond/615291</a:t>
            </a:r>
          </a:p>
          <a:p xmlns:a="http://schemas.openxmlformats.org/drawingml/2006/main">
            <a:r>
              <a:t>App cost anecdote: https://www.reddit.com/r/ShopifyeCommerce/comments/1wbhux6/i_feel_like_its_all_getting_too_much/</a:t>
            </a:r>
          </a:p>
          <a:p xmlns:a="http://schemas.openxmlformats.org/drawingml/2006/main">
            <a:r>
              <a:t>Counter-context: https://help.shopify.com/en/manual/online-store/web-performance/improving-web-performance describes theme/app/media performance factors and Shopify's CDN and hosting optimizations. Admin latency and storefront performance differ. RunMyStore has no comparative speed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connected workflow. The same product facts and selected creative travel downstream. The current frontend demonstrates this state flow with mock generation and local persistence. Future integrations should keep an approval and execution receipt for each external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Catalog Studio and Website Builder. Merchant input supplies factual attributes. Unknown dimensions, materials and product claims stay unknown until confirmed. The website builder uses the catalog, offers section editing and mobile preview. Publishing is local, not a public deployed store. Source: prototype code and PRD.md. Image: cat-detail.webp.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 variants are prepared fixtures. Campaign activation and metrics are simulated. Do not describe the demo ROAS or revenue as customers, traction, product impact or model performance. The intended production flow associates approved creative with live channel identifiers and retrieves attributable results. Image: cat-window.webp.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UI demonstrates reallocation inside a fixed monthly cap. It does not write to advertising platforms. Future production needs idempotent execution, authenticated approval, an audit log and rollback or compensation where supported. Recommendations require margin and attribution context, not ROAS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AgenticOrg by Pine Labs is a hackathon requirement. This slide is a proposed architecture, not a claim that the requirement is already implemented. We must verify AgenticOrg APIs and map these roles to supported execution primitives. Use shared typed context, a coordinator and human approval before publishing or spending. The frontend presently simulates agent jobs; there is no live backend or AgenticOrg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accessed 24 Oct 2026. Shopify Sidekick already has product context, multi-step work and reviews before applying changes: https://help.shopify.com/en/manual/ai-powered-tools/sidekick . AdCreative.ai describes ad creative, video and scoring capabilities: https://www.adcreative.ai/ . Klaviyo describes customer data, marketing automation and ecommerce integrations: https://www.klaviyo.com/ . These overlap with RunMyStore. The proposed differentiation is workflow simplicity across tools and consistent approvals, which requires validation. StoreOS was the supplied visual/product inspiration, not proof of an exclusive market gap. We do not claim any competitor cannot add these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North Star definition: weekly median of net verified owner hours saved per weekly active store. For each workflow type establish a paired manual baseline with pilot merchants. Subtract actual review, correction and rework time. Keep negative results; do not clamp them away. Sum only unique completed workflows per store, then take the median across active stores. Count a task only once when an external execution receipt confirms completion. Record manual baseline minutes, human work minutes, workflow ID, merchant ID and completion status. Guardrails: product-claim errors, reversals, unauthorized spend, overspend and retention. Do not optimize for raw number of generations or agent messages. Baseline, active-store definition and willingness to pay require pilot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live frontend demo. Follow one confirmed product into the website, select ad creative, inspect mock campaign results and review a budget recommendation. Disclose simulation before demonstrating it. Next validation: interview owner-operated brands, time the same workflow manually, run a sandbox integration with approval receipts, then test willingness to pay. No claimed traction or conversion uplift. Image: existing aura-bottle.webp.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04ff537dc848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29c672fe604861" /><Relationship Type="http://schemas.openxmlformats.org/officeDocument/2006/relationships/slideLayout" Target="/ppt/slideLayouts/slideLayout1.xml" Id="R39e77b48adfc4d0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e77b48adfc4d0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36c0d51fd14489" /><Relationship Type="http://schemas.openxmlformats.org/officeDocument/2006/relationships/image" Target="/ppt/media/image.png" Id="Rff067bc3fcd54494" /><Relationship Type="http://schemas.openxmlformats.org/officeDocument/2006/relationships/notesSlide" Target="/ppt/notesSlides/notesSlide1.xml" Id="R2b32449b370847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48cfaff10743bc" /><Relationship Type="http://schemas.openxmlformats.org/officeDocument/2006/relationships/notesSlide" Target="/ppt/notesSlides/notesSlide2.xml" Id="Rcf3cd0e6915744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a8b65ebac34ddb" /><Relationship Type="http://schemas.openxmlformats.org/officeDocument/2006/relationships/image" Target="/ppt/media/image2.png" Id="R4bf382b8e2744ec0" /><Relationship Type="http://schemas.openxmlformats.org/officeDocument/2006/relationships/notesSlide" Target="/ppt/notesSlides/notesSlide3.xml" Id="R30a4c9f5251e43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4957d9c5ef40dd" /><Relationship Type="http://schemas.openxmlformats.org/officeDocument/2006/relationships/notesSlide" Target="/ppt/notesSlides/notesSlide4.xml" Id="Rb2a9cfd1eebc47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beec9e97834cc6" /><Relationship Type="http://schemas.openxmlformats.org/officeDocument/2006/relationships/notesSlide" Target="/ppt/notesSlides/notesSlide5.xml" Id="R8f5e5baf51f846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1f9ef0466e457f" /><Relationship Type="http://schemas.openxmlformats.org/officeDocument/2006/relationships/image" Target="/ppt/media/image3.png" Id="Rc4732eb9ecdb4b86" /><Relationship Type="http://schemas.openxmlformats.org/officeDocument/2006/relationships/notesSlide" Target="/ppt/notesSlides/notesSlide6.xml" Id="Rdce0058c82554e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86f97eab904e4e" /><Relationship Type="http://schemas.openxmlformats.org/officeDocument/2006/relationships/image" Target="/ppt/media/image4.png" Id="Rc2046d10d4fb4a20" /><Relationship Type="http://schemas.openxmlformats.org/officeDocument/2006/relationships/notesSlide" Target="/ppt/notesSlides/notesSlide7.xml" Id="R601e263c507949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b50ab071df4a8a" /><Relationship Type="http://schemas.openxmlformats.org/officeDocument/2006/relationships/notesSlide" Target="/ppt/notesSlides/notesSlide8.xml" Id="Rac310083e9bc4f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f3c49179204247" /><Relationship Type="http://schemas.openxmlformats.org/officeDocument/2006/relationships/notesSlide" Target="/ppt/notesSlides/notesSlide9.xml" Id="R1fc72c014f9240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4278fe3f0fe4e26" /><Relationship Type="http://schemas.openxmlformats.org/officeDocument/2006/relationships/notesSlide" Target="/ppt/notesSlides/notesSlide10.xml" Id="R022767ec773949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1099c63fdf84c57" /><Relationship Type="http://schemas.openxmlformats.org/officeDocument/2006/relationships/notesSlide" Target="/ppt/notesSlides/notesSlide11.xml" Id="R36780c30abe346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1a9d3594cd84d00" /><Relationship Type="http://schemas.openxmlformats.org/officeDocument/2006/relationships/image" Target="/ppt/media/image5.png" Id="R2c27380001054fd1" /><Relationship Type="http://schemas.openxmlformats.org/officeDocument/2006/relationships/notesSlide" Target="/ppt/notesSlides/notesSlide12.xml" Id="R2d032afc3afd4719" /></Relationships>
</file>

<file path=ppt/slides/slide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BF4AA99A-26CF-46B0-9009-7708D9273321}"/>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263E35"/>
                </a:solidFill>
                <a:latin typeface="Arial"/>
                <a:ea typeface="Arial"/>
                <a:cs typeface="Arial"/>
              </a:defRPr>
            </a:pPr>
            <a:r>
              <a:rPr sz="1350" b="1" i="0">
                <a:solidFill>
                  <a:srgbClr val="263E35"/>
                </a:solidFill>
                <a:latin typeface="Arial"/>
                <a:ea typeface="Arial"/>
                <a:cs typeface="Arial"/>
              </a:rPr>
              <a:t>RunMyStore</a:t>
            </a:r>
          </a:p>
        </p:txBody>
      </p:sp>
      <p:sp>
        <p:nvSpPr>
          <p:cNvPr id="2" name="text-2">
            <a:extLst xmlns:a="http://schemas.openxmlformats.org/drawingml/2006/main">
              <a:ext uri="{FF2B5EF4-FFF2-40B4-BE49-F238E27FC236}">
                <a16:creationId xmlns:a16="http://schemas.microsoft.com/office/drawing/2014/main" id="{8D6C1F84-B6A7-427B-87E0-FC901A881259}"/>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657269"/>
                </a:solidFill>
                <a:latin typeface="Arial"/>
                <a:ea typeface="Arial"/>
                <a:cs typeface="Arial"/>
              </a:defRPr>
            </a:pPr>
            <a:r>
              <a:rPr sz="1200" b="0" i="0">
                <a:solidFill>
                  <a:srgbClr val="657269"/>
                </a:solidFill>
                <a:latin typeface="Arial"/>
                <a:ea typeface="Arial"/>
                <a:cs typeface="Arial"/>
              </a:rPr>
              <a:t>AI FOR COMMERCE</a:t>
            </a:r>
          </a:p>
        </p:txBody>
      </p:sp>
      <p:sp>
        <p:nvSpPr>
          <p:cNvPr id="3" name="text-3">
            <a:extLst xmlns:a="http://schemas.openxmlformats.org/drawingml/2006/main">
              <a:ext uri="{FF2B5EF4-FFF2-40B4-BE49-F238E27FC236}">
                <a16:creationId xmlns:a16="http://schemas.microsoft.com/office/drawing/2014/main" id="{472F4D2F-5507-41B1-B842-6DE6861EE2EB}"/>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657269"/>
                </a:solidFill>
                <a:latin typeface="Arial"/>
                <a:ea typeface="Arial"/>
                <a:cs typeface="Arial"/>
              </a:defRPr>
            </a:pPr>
            <a:r>
              <a:rPr sz="1125" b="0" i="0">
                <a:solidFill>
                  <a:srgbClr val="657269"/>
                </a:solidFill>
                <a:latin typeface="Arial"/>
                <a:ea typeface="Arial"/>
                <a:cs typeface="Arial"/>
              </a:rPr>
              <a:t>01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f067bc3fcd54494"/>
          <a:srcRect xmlns:a="http://schemas.openxmlformats.org/drawingml/2006/main" l="0" t="10190" r="0" b="10190"/>
          <a:stretch xmlns:a="http://schemas.openxmlformats.org/drawingml/2006/main">
            <a:fillRect l="0" t="0" r="0" b="0"/>
          </a:stretch>
        </p:blipFill>
        <p:spPr>
          <a:xfrm xmlns:a="http://schemas.openxmlformats.org/drawingml/2006/main">
            <a:off x="7639050" y="990600"/>
            <a:ext cx="4019550" cy="4800600"/>
          </a:xfrm>
          <a:prstGeom xmlns:a="http://schemas.openxmlformats.org/drawingml/2006/main" prst="rect">
            <a:avLst/>
          </a:prstGeom>
        </p:spPr>
      </p:pic>
      <p:sp>
        <p:nvSpPr>
          <p:cNvPr id="5" name="text-4">
            <a:extLst xmlns:a="http://schemas.openxmlformats.org/drawingml/2006/main">
              <a:ext uri="{FF2B5EF4-FFF2-40B4-BE49-F238E27FC236}">
                <a16:creationId xmlns:a16="http://schemas.microsoft.com/office/drawing/2014/main" id="{317F417E-3E37-46CC-9577-59EF695E4166}"/>
              </a:ext>
            </a:extLst>
          </p:cNvPr>
          <p:cNvSpPr>
            <a:spLocks xmlns:a="http://schemas.openxmlformats.org/drawingml/2006/main" noGrp="1"/>
          </p:cNvSpPr>
          <p:nvPr/>
        </p:nvSpPr>
        <p:spPr>
          <a:xfrm xmlns:a="http://schemas.openxmlformats.org/drawingml/2006/main">
            <a:off x="533400" y="1552575"/>
            <a:ext cx="69723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300" b="0" i="0">
                <a:solidFill>
                  <a:srgbClr val="263E35"/>
                </a:solidFill>
                <a:latin typeface="Georgia"/>
                <a:ea typeface="Georgia"/>
                <a:cs typeface="Georgia"/>
              </a:defRPr>
            </a:pPr>
            <a:r>
              <a:rPr sz="6300" b="0" i="0">
                <a:solidFill>
                  <a:srgbClr val="263E35"/>
                </a:solidFill>
                <a:latin typeface="Georgia"/>
                <a:ea typeface="Georgia"/>
                <a:cs typeface="Georgia"/>
              </a:rPr>
              <a:t>RunMyStore</a:t>
            </a:r>
          </a:p>
        </p:txBody>
      </p:sp>
      <p:sp>
        <p:nvSpPr>
          <p:cNvPr id="6" name="text-5">
            <a:extLst xmlns:a="http://schemas.openxmlformats.org/drawingml/2006/main">
              <a:ext uri="{FF2B5EF4-FFF2-40B4-BE49-F238E27FC236}">
                <a16:creationId xmlns:a16="http://schemas.microsoft.com/office/drawing/2014/main" id="{D59F952D-C294-400C-BD7F-7B45F897FE70}"/>
              </a:ext>
            </a:extLst>
          </p:cNvPr>
          <p:cNvSpPr>
            <a:spLocks xmlns:a="http://schemas.openxmlformats.org/drawingml/2006/main" noGrp="1"/>
          </p:cNvSpPr>
          <p:nvPr/>
        </p:nvSpPr>
        <p:spPr>
          <a:xfrm xmlns:a="http://schemas.openxmlformats.org/drawingml/2006/main">
            <a:off x="533400" y="2790825"/>
            <a:ext cx="6762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0" i="1">
                <a:solidFill>
                  <a:srgbClr val="A75132"/>
                </a:solidFill>
                <a:latin typeface="Georgia"/>
                <a:ea typeface="Georgia"/>
                <a:cs typeface="Georgia"/>
              </a:defRPr>
            </a:pPr>
            <a:r>
              <a:rPr sz="4650" b="0" i="1">
                <a:solidFill>
                  <a:srgbClr val="A75132"/>
                </a:solidFill>
                <a:latin typeface="Georgia"/>
                <a:ea typeface="Georgia"/>
                <a:cs typeface="Georgia"/>
              </a:rPr>
              <a:t>More time for</a:t>
            </a:r>
          </a:p>
          <a:p xmlns:a="http://schemas.openxmlformats.org/drawingml/2006/main">
            <a:pPr>
              <a:defRPr sz="4650" b="0" i="1">
                <a:solidFill>
                  <a:srgbClr val="A75132"/>
                </a:solidFill>
                <a:latin typeface="Georgia"/>
                <a:ea typeface="Georgia"/>
                <a:cs typeface="Georgia"/>
              </a:defRPr>
            </a:pPr>
            <a:r>
              <a:rPr sz="4650" b="0" i="1">
                <a:solidFill>
                  <a:srgbClr val="A75132"/>
                </a:solidFill>
                <a:latin typeface="Georgia"/>
                <a:ea typeface="Georgia"/>
                <a:cs typeface="Georgia"/>
              </a:rPr>
              <a:t>your product.</a:t>
            </a:r>
          </a:p>
        </p:txBody>
      </p:sp>
      <p:sp>
        <p:nvSpPr>
          <p:cNvPr id="7" name="text-6">
            <a:extLst xmlns:a="http://schemas.openxmlformats.org/drawingml/2006/main">
              <a:ext uri="{FF2B5EF4-FFF2-40B4-BE49-F238E27FC236}">
                <a16:creationId xmlns:a16="http://schemas.microsoft.com/office/drawing/2014/main" id="{2501EC47-ECC8-49C2-9A2F-8C62D02107FD}"/>
              </a:ext>
            </a:extLst>
          </p:cNvPr>
          <p:cNvSpPr>
            <a:spLocks xmlns:a="http://schemas.openxmlformats.org/drawingml/2006/main" noGrp="1"/>
          </p:cNvSpPr>
          <p:nvPr/>
        </p:nvSpPr>
        <p:spPr>
          <a:xfrm xmlns:a="http://schemas.openxmlformats.org/drawingml/2006/main">
            <a:off x="533400" y="4829175"/>
            <a:ext cx="6524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i="0">
                <a:solidFill>
                  <a:srgbClr val="263E35"/>
                </a:solidFill>
                <a:latin typeface="Arial"/>
                <a:ea typeface="Arial"/>
                <a:cs typeface="Arial"/>
              </a:defRPr>
            </a:pPr>
            <a:r>
              <a:rPr sz="2100" b="0" i="0">
                <a:solidFill>
                  <a:srgbClr val="263E35"/>
                </a:solidFill>
                <a:latin typeface="Arial"/>
                <a:ea typeface="Arial"/>
                <a:cs typeface="Arial"/>
              </a:rPr>
              <a:t>A connected workspace for the work</a:t>
            </a:r>
          </a:p>
          <a:p xmlns:a="http://schemas.openxmlformats.org/drawingml/2006/main">
            <a:pPr>
              <a:defRPr sz="2100" b="0" i="0">
                <a:solidFill>
                  <a:srgbClr val="263E35"/>
                </a:solidFill>
                <a:latin typeface="Arial"/>
                <a:ea typeface="Arial"/>
                <a:cs typeface="Arial"/>
              </a:defRPr>
            </a:pPr>
            <a:r>
              <a:rPr sz="2100" b="0" i="0">
                <a:solidFill>
                  <a:srgbClr val="263E35"/>
                </a:solidFill>
                <a:latin typeface="Arial"/>
                <a:ea typeface="Arial"/>
                <a:cs typeface="Arial"/>
              </a:rPr>
              <a:t>behind an online store.</a:t>
            </a:r>
          </a:p>
        </p:txBody>
      </p:sp>
      <p:sp>
        <p:nvSpPr>
          <p:cNvPr id="8" name="text-7">
            <a:extLst xmlns:a="http://schemas.openxmlformats.org/drawingml/2006/main">
              <a:ext uri="{FF2B5EF4-FFF2-40B4-BE49-F238E27FC236}">
                <a16:creationId xmlns:a16="http://schemas.microsoft.com/office/drawing/2014/main" id="{3DBA2CAE-CC43-49D9-AF5B-79CEFD11955A}"/>
              </a:ext>
            </a:extLst>
          </p:cNvPr>
          <p:cNvSpPr>
            <a:spLocks xmlns:a="http://schemas.openxmlformats.org/drawingml/2006/main" noGrp="1"/>
          </p:cNvSpPr>
          <p:nvPr/>
        </p:nvSpPr>
        <p:spPr>
          <a:xfrm xmlns:a="http://schemas.openxmlformats.org/drawingml/2006/main">
            <a:off x="533400" y="62769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i="0">
                <a:solidFill>
                  <a:srgbClr val="657269"/>
                </a:solidFill>
                <a:latin typeface="Arial"/>
                <a:ea typeface="Arial"/>
                <a:cs typeface="Arial"/>
              </a:defRPr>
            </a:pPr>
            <a:r>
              <a:rPr sz="975" b="0" i="0">
                <a:solidFill>
                  <a:srgbClr val="657269"/>
                </a:solidFill>
                <a:latin typeface="Arial"/>
                <a:ea typeface="Arial"/>
                <a:cs typeface="Arial"/>
              </a:rPr>
              <a:t>Hackathon prototype. All AI actions and commerce data in the demo are simulated.</a:t>
            </a:r>
          </a:p>
        </p:txBody>
      </p:sp>
    </p:spTree>
    <p:extLst>
      <p:ext uri="{BB962C8B-B14F-4D97-AF65-F5344CB8AC3E}">
        <p14:creationId xmlns:p14="http://schemas.microsoft.com/office/powerpoint/2010/main" val="1938328663"/>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7" name="text-8">
            <a:extLst xmlns:a="http://schemas.openxmlformats.org/drawingml/2006/main">
              <a:ext uri="{FF2B5EF4-FFF2-40B4-BE49-F238E27FC236}">
                <a16:creationId xmlns:a16="http://schemas.microsoft.com/office/drawing/2014/main" id="{FD8AB23C-AA7F-4AAD-9C0D-BA9456CE2481}"/>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263E35"/>
                </a:solidFill>
                <a:latin typeface="Arial"/>
                <a:ea typeface="Arial"/>
                <a:cs typeface="Arial"/>
              </a:defRPr>
            </a:pPr>
            <a:r>
              <a:rPr sz="1350" b="1" i="0">
                <a:solidFill>
                  <a:srgbClr val="263E35"/>
                </a:solidFill>
                <a:latin typeface="Arial"/>
                <a:ea typeface="Arial"/>
                <a:cs typeface="Arial"/>
              </a:rPr>
              <a:t>RunMyStore</a:t>
            </a:r>
          </a:p>
        </p:txBody>
      </p:sp>
      <p:sp>
        <p:nvSpPr>
          <p:cNvPr id="2" name="text-9">
            <a:extLst xmlns:a="http://schemas.openxmlformats.org/drawingml/2006/main">
              <a:ext uri="{FF2B5EF4-FFF2-40B4-BE49-F238E27FC236}">
                <a16:creationId xmlns:a16="http://schemas.microsoft.com/office/drawing/2014/main" id="{A7BDE6C2-1B27-4B8C-A018-6DEEB4307FFB}"/>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657269"/>
                </a:solidFill>
                <a:latin typeface="Arial"/>
                <a:ea typeface="Arial"/>
                <a:cs typeface="Arial"/>
              </a:defRPr>
            </a:pPr>
            <a:r>
              <a:rPr sz="1200" b="0" i="0">
                <a:solidFill>
                  <a:srgbClr val="657269"/>
                </a:solidFill>
                <a:latin typeface="Arial"/>
                <a:ea typeface="Arial"/>
                <a:cs typeface="Arial"/>
              </a:rPr>
              <a:t>THE PROBLEM</a:t>
            </a:r>
          </a:p>
        </p:txBody>
      </p:sp>
      <p:sp>
        <p:nvSpPr>
          <p:cNvPr id="3" name="text-10">
            <a:extLst xmlns:a="http://schemas.openxmlformats.org/drawingml/2006/main">
              <a:ext uri="{FF2B5EF4-FFF2-40B4-BE49-F238E27FC236}">
                <a16:creationId xmlns:a16="http://schemas.microsoft.com/office/drawing/2014/main" id="{DFE8138A-5F53-43B0-8C97-0FF8EF5AB22A}"/>
              </a:ext>
            </a:extLst>
          </p:cNvPr>
          <p:cNvSpPr>
            <a:spLocks xmlns:a="http://schemas.openxmlformats.org/drawingml/2006/main" noGrp="1"/>
          </p:cNvSpPr>
          <p:nvPr/>
        </p:nvSpPr>
        <p:spPr>
          <a:xfrm xmlns:a="http://schemas.openxmlformats.org/drawingml/2006/main">
            <a:off x="533400" y="933450"/>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i="0">
                <a:solidFill>
                  <a:srgbClr val="263E35"/>
                </a:solidFill>
                <a:latin typeface="Georgia"/>
                <a:ea typeface="Georgia"/>
                <a:cs typeface="Georgia"/>
              </a:defRPr>
            </a:pPr>
            <a:r>
              <a:rPr sz="3750" b="0" i="0">
                <a:solidFill>
                  <a:srgbClr val="263E35"/>
                </a:solidFill>
                <a:latin typeface="Georgia"/>
                <a:ea typeface="Georgia"/>
                <a:cs typeface="Georgia"/>
              </a:rPr>
              <a:t>The owner becomes the integration</a:t>
            </a:r>
          </a:p>
        </p:txBody>
      </p:sp>
      <p:sp>
        <p:nvSpPr>
          <p:cNvPr id="4" name="text-11">
            <a:extLst xmlns:a="http://schemas.openxmlformats.org/drawingml/2006/main">
              <a:ext uri="{FF2B5EF4-FFF2-40B4-BE49-F238E27FC236}">
                <a16:creationId xmlns:a16="http://schemas.microsoft.com/office/drawing/2014/main" id="{4CF31387-5D10-4030-8179-A4FF0052DC0E}"/>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657269"/>
                </a:solidFill>
                <a:latin typeface="Arial"/>
                <a:ea typeface="Arial"/>
                <a:cs typeface="Arial"/>
              </a:defRPr>
            </a:pPr>
            <a:r>
              <a:rPr sz="1125" b="0" i="0">
                <a:solidFill>
                  <a:srgbClr val="657269"/>
                </a:solidFill>
                <a:latin typeface="Arial"/>
                <a:ea typeface="Arial"/>
                <a:cs typeface="Arial"/>
              </a:rPr>
              <a:t>02</a:t>
            </a:r>
          </a:p>
        </p:txBody>
      </p:sp>
      <p:sp>
        <p:nvSpPr>
          <p:cNvPr id="5" name="text-12">
            <a:extLst xmlns:a="http://schemas.openxmlformats.org/drawingml/2006/main">
              <a:ext uri="{FF2B5EF4-FFF2-40B4-BE49-F238E27FC236}">
                <a16:creationId xmlns:a16="http://schemas.microsoft.com/office/drawing/2014/main" id="{FC6821CE-8874-4119-9299-5564BB6C63E4}"/>
              </a:ext>
            </a:extLst>
          </p:cNvPr>
          <p:cNvSpPr>
            <a:spLocks xmlns:a="http://schemas.openxmlformats.org/drawingml/2006/main" noGrp="1"/>
          </p:cNvSpPr>
          <p:nvPr/>
        </p:nvSpPr>
        <p:spPr>
          <a:xfrm xmlns:a="http://schemas.openxmlformats.org/drawingml/2006/main">
            <a:off x="533400" y="2400300"/>
            <a:ext cx="5810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0" i="0">
                <a:solidFill>
                  <a:srgbClr val="263E35"/>
                </a:solidFill>
                <a:latin typeface="Georgia"/>
                <a:ea typeface="Georgia"/>
                <a:cs typeface="Georgia"/>
              </a:defRPr>
            </a:pPr>
            <a:r>
              <a:rPr sz="4050" b="0" i="0">
                <a:solidFill>
                  <a:srgbClr val="263E35"/>
                </a:solidFill>
                <a:latin typeface="Georgia"/>
                <a:ea typeface="Georgia"/>
                <a:cs typeface="Georgia"/>
              </a:rPr>
              <a:t>One product.</a:t>
            </a:r>
          </a:p>
          <a:p xmlns:a="http://schemas.openxmlformats.org/drawingml/2006/main">
            <a:pPr>
              <a:defRPr sz="4050" b="0" i="0">
                <a:solidFill>
                  <a:srgbClr val="263E35"/>
                </a:solidFill>
                <a:latin typeface="Georgia"/>
                <a:ea typeface="Georgia"/>
                <a:cs typeface="Georgia"/>
              </a:defRPr>
            </a:pPr>
            <a:r>
              <a:rPr sz="4050" b="0" i="0">
                <a:solidFill>
                  <a:srgbClr val="263E35"/>
                </a:solidFill>
                <a:latin typeface="Georgia"/>
                <a:ea typeface="Georgia"/>
                <a:cs typeface="Georgia"/>
              </a:rPr>
              <a:t>A growing list</a:t>
            </a:r>
          </a:p>
          <a:p xmlns:a="http://schemas.openxmlformats.org/drawingml/2006/main">
            <a:pPr>
              <a:defRPr sz="4050" b="0" i="0">
                <a:solidFill>
                  <a:srgbClr val="263E35"/>
                </a:solidFill>
                <a:latin typeface="Georgia"/>
                <a:ea typeface="Georgia"/>
                <a:cs typeface="Georgia"/>
              </a:defRPr>
            </a:pPr>
            <a:r>
              <a:rPr sz="4050" b="0" i="0">
                <a:solidFill>
                  <a:srgbClr val="263E35"/>
                </a:solidFill>
                <a:latin typeface="Georgia"/>
                <a:ea typeface="Georgia"/>
                <a:cs typeface="Georgia"/>
              </a:rPr>
              <a:t>of admin work.</a:t>
            </a:r>
          </a:p>
        </p:txBody>
      </p:sp>
      <p:sp>
        <p:nvSpPr>
          <p:cNvPr id="6" name="text-13">
            <a:extLst xmlns:a="http://schemas.openxmlformats.org/drawingml/2006/main">
              <a:ext uri="{FF2B5EF4-FFF2-40B4-BE49-F238E27FC236}">
                <a16:creationId xmlns:a16="http://schemas.microsoft.com/office/drawing/2014/main" id="{073D5CC7-2048-4B6F-9851-D202DBDE722A}"/>
              </a:ext>
            </a:extLst>
          </p:cNvPr>
          <p:cNvSpPr>
            <a:spLocks xmlns:a="http://schemas.openxmlformats.org/drawingml/2006/main" noGrp="1"/>
          </p:cNvSpPr>
          <p:nvPr/>
        </p:nvSpPr>
        <p:spPr>
          <a:xfrm xmlns:a="http://schemas.openxmlformats.org/drawingml/2006/main">
            <a:off x="533400" y="5010150"/>
            <a:ext cx="6143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i="0">
                <a:solidFill>
                  <a:srgbClr val="657269"/>
                </a:solidFill>
                <a:latin typeface="Arial"/>
                <a:ea typeface="Arial"/>
                <a:cs typeface="Arial"/>
              </a:defRPr>
            </a:pPr>
            <a:r>
              <a:rPr sz="1950" b="0" i="0">
                <a:solidFill>
                  <a:srgbClr val="657269"/>
                </a:solidFill>
                <a:latin typeface="Arial"/>
                <a:ea typeface="Arial"/>
                <a:cs typeface="Arial"/>
              </a:rPr>
              <a:t>Product facts get copied between tools.</a:t>
            </a:r>
          </a:p>
          <a:p xmlns:a="http://schemas.openxmlformats.org/drawingml/2006/main">
            <a:pPr>
              <a:defRPr sz="1950" b="0" i="0">
                <a:solidFill>
                  <a:srgbClr val="657269"/>
                </a:solidFill>
                <a:latin typeface="Arial"/>
                <a:ea typeface="Arial"/>
                <a:cs typeface="Arial"/>
              </a:defRPr>
            </a:pPr>
            <a:r>
              <a:rPr sz="1950" b="0" i="0">
                <a:solidFill>
                  <a:srgbClr val="657269"/>
                </a:solidFill>
                <a:latin typeface="Arial"/>
                <a:ea typeface="Arial"/>
                <a:cs typeface="Arial"/>
              </a:rPr>
              <a:t>Every change creates another handoff.</a:t>
            </a:r>
          </a:p>
        </p:txBody>
      </p:sp>
      <p:sp>
        <p:nvSpPr>
          <p:cNvPr id="7" name="text-14">
            <a:extLst xmlns:a="http://schemas.openxmlformats.org/drawingml/2006/main">
              <a:ext uri="{FF2B5EF4-FFF2-40B4-BE49-F238E27FC236}">
                <a16:creationId xmlns:a16="http://schemas.microsoft.com/office/drawing/2014/main" id="{0A15DB8C-6303-44AB-902F-1E84182F2DD8}"/>
              </a:ext>
            </a:extLst>
          </p:cNvPr>
          <p:cNvSpPr>
            <a:spLocks xmlns:a="http://schemas.openxmlformats.org/drawingml/2006/main" noGrp="1"/>
          </p:cNvSpPr>
          <p:nvPr/>
        </p:nvSpPr>
        <p:spPr>
          <a:xfrm xmlns:a="http://schemas.openxmlformats.org/drawingml/2006/main">
            <a:off x="7372350" y="21526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i="0">
                <a:solidFill>
                  <a:srgbClr val="263E35"/>
                </a:solidFill>
                <a:latin typeface="Arial"/>
                <a:ea typeface="Arial"/>
                <a:cs typeface="Arial"/>
              </a:defRPr>
            </a:pPr>
            <a:r>
              <a:rPr sz="2100" b="1" i="0">
                <a:solidFill>
                  <a:srgbClr val="263E35"/>
                </a:solidFill>
                <a:latin typeface="Arial"/>
                <a:ea typeface="Arial"/>
                <a:cs typeface="Arial"/>
              </a:rPr>
              <a:t>Catalog</a:t>
            </a:r>
          </a:p>
        </p:txBody>
      </p:sp>
      <p:sp>
        <p:nvSpPr>
          <p:cNvPr id="8" name="text-15">
            <a:extLst xmlns:a="http://schemas.openxmlformats.org/drawingml/2006/main">
              <a:ext uri="{FF2B5EF4-FFF2-40B4-BE49-F238E27FC236}">
                <a16:creationId xmlns:a16="http://schemas.microsoft.com/office/drawing/2014/main" id="{4E929F75-43E0-41C5-93D2-BA719574D5C7}"/>
              </a:ext>
            </a:extLst>
          </p:cNvPr>
          <p:cNvSpPr>
            <a:spLocks xmlns:a="http://schemas.openxmlformats.org/drawingml/2006/main" noGrp="1"/>
          </p:cNvSpPr>
          <p:nvPr/>
        </p:nvSpPr>
        <p:spPr>
          <a:xfrm xmlns:a="http://schemas.openxmlformats.org/drawingml/2006/main">
            <a:off x="7372350" y="24955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657269"/>
                </a:solidFill>
                <a:latin typeface="Arial"/>
                <a:ea typeface="Arial"/>
                <a:cs typeface="Arial"/>
              </a:defRPr>
            </a:pPr>
            <a:r>
              <a:rPr sz="1725" b="0" i="0">
                <a:solidFill>
                  <a:srgbClr val="657269"/>
                </a:solidFill>
                <a:latin typeface="Arial"/>
                <a:ea typeface="Arial"/>
                <a:cs typeface="Arial"/>
              </a:rPr>
              <a:t>Write the listing</a:t>
            </a:r>
          </a:p>
        </p:txBody>
      </p:sp>
      <p:sp>
        <p:nvSpPr>
          <p:cNvPr id="9" name="text-16">
            <a:extLst xmlns:a="http://schemas.openxmlformats.org/drawingml/2006/main">
              <a:ext uri="{FF2B5EF4-FFF2-40B4-BE49-F238E27FC236}">
                <a16:creationId xmlns:a16="http://schemas.microsoft.com/office/drawing/2014/main" id="{CB162562-0C95-47F1-845C-583DBAE1BD33}"/>
              </a:ext>
            </a:extLst>
          </p:cNvPr>
          <p:cNvSpPr>
            <a:spLocks xmlns:a="http://schemas.openxmlformats.org/drawingml/2006/main" noGrp="1"/>
          </p:cNvSpPr>
          <p:nvPr/>
        </p:nvSpPr>
        <p:spPr>
          <a:xfrm xmlns:a="http://schemas.openxmlformats.org/drawingml/2006/main">
            <a:off x="7372350" y="29051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i="0">
                <a:solidFill>
                  <a:srgbClr val="263E35"/>
                </a:solidFill>
                <a:latin typeface="Arial"/>
                <a:ea typeface="Arial"/>
                <a:cs typeface="Arial"/>
              </a:defRPr>
            </a:pPr>
            <a:r>
              <a:rPr sz="2100" b="1" i="0">
                <a:solidFill>
                  <a:srgbClr val="263E35"/>
                </a:solidFill>
                <a:latin typeface="Arial"/>
                <a:ea typeface="Arial"/>
                <a:cs typeface="Arial"/>
              </a:rPr>
              <a:t>Website</a:t>
            </a:r>
          </a:p>
        </p:txBody>
      </p:sp>
      <p:sp>
        <p:nvSpPr>
          <p:cNvPr id="10" name="text-17">
            <a:extLst xmlns:a="http://schemas.openxmlformats.org/drawingml/2006/main">
              <a:ext uri="{FF2B5EF4-FFF2-40B4-BE49-F238E27FC236}">
                <a16:creationId xmlns:a16="http://schemas.microsoft.com/office/drawing/2014/main" id="{86FE767E-79D7-4AEB-8432-B7DD6F835CB3}"/>
              </a:ext>
            </a:extLst>
          </p:cNvPr>
          <p:cNvSpPr>
            <a:spLocks xmlns:a="http://schemas.openxmlformats.org/drawingml/2006/main" noGrp="1"/>
          </p:cNvSpPr>
          <p:nvPr/>
        </p:nvSpPr>
        <p:spPr>
          <a:xfrm xmlns:a="http://schemas.openxmlformats.org/drawingml/2006/main">
            <a:off x="7372350" y="3248025"/>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657269"/>
                </a:solidFill>
                <a:latin typeface="Arial"/>
                <a:ea typeface="Arial"/>
                <a:cs typeface="Arial"/>
              </a:defRPr>
            </a:pPr>
            <a:r>
              <a:rPr sz="1725" b="0" i="0">
                <a:solidFill>
                  <a:srgbClr val="657269"/>
                </a:solidFill>
                <a:latin typeface="Arial"/>
                <a:ea typeface="Arial"/>
                <a:cs typeface="Arial"/>
              </a:rPr>
              <a:t>Update the storefront</a:t>
            </a:r>
          </a:p>
        </p:txBody>
      </p:sp>
      <p:sp>
        <p:nvSpPr>
          <p:cNvPr id="11" name="text-18">
            <a:extLst xmlns:a="http://schemas.openxmlformats.org/drawingml/2006/main">
              <a:ext uri="{FF2B5EF4-FFF2-40B4-BE49-F238E27FC236}">
                <a16:creationId xmlns:a16="http://schemas.microsoft.com/office/drawing/2014/main" id="{FB16A1AD-4E86-45E6-A891-8FC304DDF753}"/>
              </a:ext>
            </a:extLst>
          </p:cNvPr>
          <p:cNvSpPr>
            <a:spLocks xmlns:a="http://schemas.openxmlformats.org/drawingml/2006/main" noGrp="1"/>
          </p:cNvSpPr>
          <p:nvPr/>
        </p:nvSpPr>
        <p:spPr>
          <a:xfrm xmlns:a="http://schemas.openxmlformats.org/drawingml/2006/main">
            <a:off x="7372350" y="365760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i="0">
                <a:solidFill>
                  <a:srgbClr val="263E35"/>
                </a:solidFill>
                <a:latin typeface="Arial"/>
                <a:ea typeface="Arial"/>
                <a:cs typeface="Arial"/>
              </a:defRPr>
            </a:pPr>
            <a:r>
              <a:rPr sz="2100" b="1" i="0">
                <a:solidFill>
                  <a:srgbClr val="263E35"/>
                </a:solidFill>
                <a:latin typeface="Arial"/>
                <a:ea typeface="Arial"/>
                <a:cs typeface="Arial"/>
              </a:rPr>
              <a:t>Ads</a:t>
            </a:r>
          </a:p>
        </p:txBody>
      </p:sp>
      <p:sp>
        <p:nvSpPr>
          <p:cNvPr id="12" name="text-19">
            <a:extLst xmlns:a="http://schemas.openxmlformats.org/drawingml/2006/main">
              <a:ext uri="{FF2B5EF4-FFF2-40B4-BE49-F238E27FC236}">
                <a16:creationId xmlns:a16="http://schemas.microsoft.com/office/drawing/2014/main" id="{6BD65266-02F4-4D0C-9805-597C1F461436}"/>
              </a:ext>
            </a:extLst>
          </p:cNvPr>
          <p:cNvSpPr>
            <a:spLocks xmlns:a="http://schemas.openxmlformats.org/drawingml/2006/main" noGrp="1"/>
          </p:cNvSpPr>
          <p:nvPr/>
        </p:nvSpPr>
        <p:spPr>
          <a:xfrm xmlns:a="http://schemas.openxmlformats.org/drawingml/2006/main">
            <a:off x="7372350" y="400050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657269"/>
                </a:solidFill>
                <a:latin typeface="Arial"/>
                <a:ea typeface="Arial"/>
                <a:cs typeface="Arial"/>
              </a:defRPr>
            </a:pPr>
            <a:r>
              <a:rPr sz="1725" b="0" i="0">
                <a:solidFill>
                  <a:srgbClr val="657269"/>
                </a:solidFill>
                <a:latin typeface="Arial"/>
                <a:ea typeface="Arial"/>
                <a:cs typeface="Arial"/>
              </a:rPr>
              <a:t>Create and resize assets</a:t>
            </a:r>
          </a:p>
        </p:txBody>
      </p:sp>
      <p:sp>
        <p:nvSpPr>
          <p:cNvPr id="13" name="text-20">
            <a:extLst xmlns:a="http://schemas.openxmlformats.org/drawingml/2006/main">
              <a:ext uri="{FF2B5EF4-FFF2-40B4-BE49-F238E27FC236}">
                <a16:creationId xmlns:a16="http://schemas.microsoft.com/office/drawing/2014/main" id="{62F15CF0-D936-40AE-BAFD-C1D7F3850E01}"/>
              </a:ext>
            </a:extLst>
          </p:cNvPr>
          <p:cNvSpPr>
            <a:spLocks xmlns:a="http://schemas.openxmlformats.org/drawingml/2006/main" noGrp="1"/>
          </p:cNvSpPr>
          <p:nvPr/>
        </p:nvSpPr>
        <p:spPr>
          <a:xfrm xmlns:a="http://schemas.openxmlformats.org/drawingml/2006/main">
            <a:off x="7372350" y="441007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i="0">
                <a:solidFill>
                  <a:srgbClr val="263E35"/>
                </a:solidFill>
                <a:latin typeface="Arial"/>
                <a:ea typeface="Arial"/>
                <a:cs typeface="Arial"/>
              </a:defRPr>
            </a:pPr>
            <a:r>
              <a:rPr sz="2100" b="1" i="0">
                <a:solidFill>
                  <a:srgbClr val="263E35"/>
                </a:solidFill>
                <a:latin typeface="Arial"/>
                <a:ea typeface="Arial"/>
                <a:cs typeface="Arial"/>
              </a:rPr>
              <a:t>Campaigns</a:t>
            </a:r>
          </a:p>
        </p:txBody>
      </p:sp>
      <p:sp>
        <p:nvSpPr>
          <p:cNvPr id="14" name="text-21">
            <a:extLst xmlns:a="http://schemas.openxmlformats.org/drawingml/2006/main">
              <a:ext uri="{FF2B5EF4-FFF2-40B4-BE49-F238E27FC236}">
                <a16:creationId xmlns:a16="http://schemas.microsoft.com/office/drawing/2014/main" id="{559F323C-9159-4F32-B2CC-2E2FD2C3AD0D}"/>
              </a:ext>
            </a:extLst>
          </p:cNvPr>
          <p:cNvSpPr>
            <a:spLocks xmlns:a="http://schemas.openxmlformats.org/drawingml/2006/main" noGrp="1"/>
          </p:cNvSpPr>
          <p:nvPr/>
        </p:nvSpPr>
        <p:spPr>
          <a:xfrm xmlns:a="http://schemas.openxmlformats.org/drawingml/2006/main">
            <a:off x="7372350" y="4752975"/>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657269"/>
                </a:solidFill>
                <a:latin typeface="Arial"/>
                <a:ea typeface="Arial"/>
                <a:cs typeface="Arial"/>
              </a:defRPr>
            </a:pPr>
            <a:r>
              <a:rPr sz="1725" b="0" i="0">
                <a:solidFill>
                  <a:srgbClr val="657269"/>
                </a:solidFill>
                <a:latin typeface="Arial"/>
                <a:ea typeface="Arial"/>
                <a:cs typeface="Arial"/>
              </a:rPr>
              <a:t>Compare results</a:t>
            </a:r>
          </a:p>
        </p:txBody>
      </p:sp>
      <p:sp>
        <p:nvSpPr>
          <p:cNvPr id="15" name="text-22">
            <a:extLst xmlns:a="http://schemas.openxmlformats.org/drawingml/2006/main">
              <a:ext uri="{FF2B5EF4-FFF2-40B4-BE49-F238E27FC236}">
                <a16:creationId xmlns:a16="http://schemas.microsoft.com/office/drawing/2014/main" id="{08C29447-8A63-40A1-A9AD-1A5EF14B3535}"/>
              </a:ext>
            </a:extLst>
          </p:cNvPr>
          <p:cNvSpPr>
            <a:spLocks xmlns:a="http://schemas.openxmlformats.org/drawingml/2006/main" noGrp="1"/>
          </p:cNvSpPr>
          <p:nvPr/>
        </p:nvSpPr>
        <p:spPr>
          <a:xfrm xmlns:a="http://schemas.openxmlformats.org/drawingml/2006/main">
            <a:off x="7372350" y="51625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i="0">
                <a:solidFill>
                  <a:srgbClr val="263E35"/>
                </a:solidFill>
                <a:latin typeface="Arial"/>
                <a:ea typeface="Arial"/>
                <a:cs typeface="Arial"/>
              </a:defRPr>
            </a:pPr>
            <a:r>
              <a:rPr sz="2100" b="1" i="0">
                <a:solidFill>
                  <a:srgbClr val="263E35"/>
                </a:solidFill>
                <a:latin typeface="Arial"/>
                <a:ea typeface="Arial"/>
                <a:cs typeface="Arial"/>
              </a:rPr>
              <a:t>Budgets</a:t>
            </a:r>
          </a:p>
        </p:txBody>
      </p:sp>
      <p:sp>
        <p:nvSpPr>
          <p:cNvPr id="16" name="text-23">
            <a:extLst xmlns:a="http://schemas.openxmlformats.org/drawingml/2006/main">
              <a:ext uri="{FF2B5EF4-FFF2-40B4-BE49-F238E27FC236}">
                <a16:creationId xmlns:a16="http://schemas.microsoft.com/office/drawing/2014/main" id="{A1CDF445-36B5-473E-9DF0-4A4F838A1A2D}"/>
              </a:ext>
            </a:extLst>
          </p:cNvPr>
          <p:cNvSpPr>
            <a:spLocks xmlns:a="http://schemas.openxmlformats.org/drawingml/2006/main" noGrp="1"/>
          </p:cNvSpPr>
          <p:nvPr/>
        </p:nvSpPr>
        <p:spPr>
          <a:xfrm xmlns:a="http://schemas.openxmlformats.org/drawingml/2006/main">
            <a:off x="7372350" y="55054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657269"/>
                </a:solidFill>
                <a:latin typeface="Arial"/>
                <a:ea typeface="Arial"/>
                <a:cs typeface="Arial"/>
              </a:defRPr>
            </a:pPr>
            <a:r>
              <a:rPr sz="1725" b="0" i="0">
                <a:solidFill>
                  <a:srgbClr val="657269"/>
                </a:solidFill>
                <a:latin typeface="Arial"/>
                <a:ea typeface="Arial"/>
                <a:cs typeface="Arial"/>
              </a:rPr>
              <a:t>Decide what deserves spend</a:t>
            </a:r>
          </a:p>
        </p:txBody>
      </p:sp>
    </p:spTree>
    <p:extLst>
      <p:ext uri="{BB962C8B-B14F-4D97-AF65-F5344CB8AC3E}">
        <p14:creationId xmlns:p14="http://schemas.microsoft.com/office/powerpoint/2010/main" val="334918116"/>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1" name="text-24">
            <a:extLst xmlns:a="http://schemas.openxmlformats.org/drawingml/2006/main">
              <a:ext uri="{FF2B5EF4-FFF2-40B4-BE49-F238E27FC236}">
                <a16:creationId xmlns:a16="http://schemas.microsoft.com/office/drawing/2014/main" id="{C137A481-9BDA-45FE-BAF2-9E5F59496D80}"/>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263E35"/>
                </a:solidFill>
                <a:latin typeface="Arial"/>
                <a:ea typeface="Arial"/>
                <a:cs typeface="Arial"/>
              </a:defRPr>
            </a:pPr>
            <a:r>
              <a:rPr sz="1350" b="1" i="0">
                <a:solidFill>
                  <a:srgbClr val="263E35"/>
                </a:solidFill>
                <a:latin typeface="Arial"/>
                <a:ea typeface="Arial"/>
                <a:cs typeface="Arial"/>
              </a:rPr>
              <a:t>RunMyStore</a:t>
            </a:r>
          </a:p>
        </p:txBody>
      </p:sp>
      <p:sp>
        <p:nvSpPr>
          <p:cNvPr id="2" name="text-25">
            <a:extLst xmlns:a="http://schemas.openxmlformats.org/drawingml/2006/main">
              <a:ext uri="{FF2B5EF4-FFF2-40B4-BE49-F238E27FC236}">
                <a16:creationId xmlns:a16="http://schemas.microsoft.com/office/drawing/2014/main" id="{D6A8A888-A832-4947-9339-657404AAF374}"/>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657269"/>
                </a:solidFill>
                <a:latin typeface="Arial"/>
                <a:ea typeface="Arial"/>
                <a:cs typeface="Arial"/>
              </a:defRPr>
            </a:pPr>
            <a:r>
              <a:rPr sz="1200" b="0" i="0">
                <a:solidFill>
                  <a:srgbClr val="657269"/>
                </a:solidFill>
                <a:latin typeface="Arial"/>
                <a:ea typeface="Arial"/>
                <a:cs typeface="Arial"/>
              </a:rPr>
              <a:t>WHO WE SERVE</a:t>
            </a:r>
          </a:p>
        </p:txBody>
      </p:sp>
      <p:sp>
        <p:nvSpPr>
          <p:cNvPr id="3" name="text-26">
            <a:extLst xmlns:a="http://schemas.openxmlformats.org/drawingml/2006/main">
              <a:ext uri="{FF2B5EF4-FFF2-40B4-BE49-F238E27FC236}">
                <a16:creationId xmlns:a16="http://schemas.microsoft.com/office/drawing/2014/main" id="{665BCCC6-8174-4E85-B33A-8D23C0653EBE}"/>
              </a:ext>
            </a:extLst>
          </p:cNvPr>
          <p:cNvSpPr>
            <a:spLocks xmlns:a="http://schemas.openxmlformats.org/drawingml/2006/main" noGrp="1"/>
          </p:cNvSpPr>
          <p:nvPr/>
        </p:nvSpPr>
        <p:spPr>
          <a:xfrm xmlns:a="http://schemas.openxmlformats.org/drawingml/2006/main">
            <a:off x="533400" y="933450"/>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i="0">
                <a:solidFill>
                  <a:srgbClr val="263E35"/>
                </a:solidFill>
                <a:latin typeface="Georgia"/>
                <a:ea typeface="Georgia"/>
                <a:cs typeface="Georgia"/>
              </a:defRPr>
            </a:pPr>
            <a:r>
              <a:rPr sz="3750" b="0" i="0">
                <a:solidFill>
                  <a:srgbClr val="263E35"/>
                </a:solidFill>
                <a:latin typeface="Georgia"/>
                <a:ea typeface="Georgia"/>
                <a:cs typeface="Georgia"/>
              </a:rPr>
              <a:t>The founder behind the brand</a:t>
            </a:r>
          </a:p>
        </p:txBody>
      </p:sp>
      <p:sp>
        <p:nvSpPr>
          <p:cNvPr id="4" name="text-27">
            <a:extLst xmlns:a="http://schemas.openxmlformats.org/drawingml/2006/main">
              <a:ext uri="{FF2B5EF4-FFF2-40B4-BE49-F238E27FC236}">
                <a16:creationId xmlns:a16="http://schemas.microsoft.com/office/drawing/2014/main" id="{AC544FFD-FF7D-489B-B342-A3792CBF3B4B}"/>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657269"/>
                </a:solidFill>
                <a:latin typeface="Arial"/>
                <a:ea typeface="Arial"/>
                <a:cs typeface="Arial"/>
              </a:defRPr>
            </a:pPr>
            <a:r>
              <a:rPr sz="1125" b="0" i="0">
                <a:solidFill>
                  <a:srgbClr val="657269"/>
                </a:solidFill>
                <a:latin typeface="Arial"/>
                <a:ea typeface="Arial"/>
                <a:cs typeface="Arial"/>
              </a:rPr>
              <a:t>03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bf382b8e2744ec0"/>
          <a:srcRect xmlns:a="http://schemas.openxmlformats.org/drawingml/2006/main" l="9959" t="0" r="9959" b="0"/>
          <a:stretch xmlns:a="http://schemas.openxmlformats.org/drawingml/2006/main">
            <a:fillRect l="0" t="0" r="0" b="0"/>
          </a:stretch>
        </p:blipFill>
        <p:spPr>
          <a:xfrm xmlns:a="http://schemas.openxmlformats.org/drawingml/2006/main">
            <a:off x="533400" y="2362200"/>
            <a:ext cx="3752850" cy="3514725"/>
          </a:xfrm>
          <a:prstGeom xmlns:a="http://schemas.openxmlformats.org/drawingml/2006/main" prst="rect">
            <a:avLst/>
          </a:prstGeom>
        </p:spPr>
      </p:pic>
      <p:sp>
        <p:nvSpPr>
          <p:cNvPr id="6" name="text-28">
            <a:extLst xmlns:a="http://schemas.openxmlformats.org/drawingml/2006/main">
              <a:ext uri="{FF2B5EF4-FFF2-40B4-BE49-F238E27FC236}">
                <a16:creationId xmlns:a16="http://schemas.microsoft.com/office/drawing/2014/main" id="{B155BCF6-A8C1-4441-BC3B-B917B76F2EA5}"/>
              </a:ext>
            </a:extLst>
          </p:cNvPr>
          <p:cNvSpPr>
            <a:spLocks xmlns:a="http://schemas.openxmlformats.org/drawingml/2006/main" noGrp="1"/>
          </p:cNvSpPr>
          <p:nvPr/>
        </p:nvSpPr>
        <p:spPr>
          <a:xfrm xmlns:a="http://schemas.openxmlformats.org/drawingml/2006/main">
            <a:off x="4895850" y="2324100"/>
            <a:ext cx="666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0" i="0">
                <a:solidFill>
                  <a:srgbClr val="263E35"/>
                </a:solidFill>
                <a:latin typeface="Georgia"/>
                <a:ea typeface="Georgia"/>
                <a:cs typeface="Georgia"/>
              </a:defRPr>
            </a:pPr>
            <a:r>
              <a:rPr sz="2850" b="0" i="0">
                <a:solidFill>
                  <a:srgbClr val="263E35"/>
                </a:solidFill>
                <a:latin typeface="Georgia"/>
                <a:ea typeface="Georgia"/>
                <a:cs typeface="Georgia"/>
              </a:rPr>
              <a:t>Independent consumer brands</a:t>
            </a:r>
          </a:p>
          <a:p xmlns:a="http://schemas.openxmlformats.org/drawingml/2006/main">
            <a:pPr>
              <a:defRPr sz="2850" b="0" i="0">
                <a:solidFill>
                  <a:srgbClr val="263E35"/>
                </a:solidFill>
                <a:latin typeface="Georgia"/>
                <a:ea typeface="Georgia"/>
                <a:cs typeface="Georgia"/>
              </a:defRPr>
            </a:pPr>
            <a:r>
              <a:rPr sz="2850" b="0" i="0">
                <a:solidFill>
                  <a:srgbClr val="263E35"/>
                </a:solidFill>
                <a:latin typeface="Georgia"/>
                <a:ea typeface="Georgia"/>
                <a:cs typeface="Georgia"/>
              </a:rPr>
              <a:t>with a small operating team</a:t>
            </a:r>
          </a:p>
        </p:txBody>
      </p:sp>
      <p:sp>
        <p:nvSpPr>
          <p:cNvPr id="7" name="text-29">
            <a:extLst xmlns:a="http://schemas.openxmlformats.org/drawingml/2006/main">
              <a:ext uri="{FF2B5EF4-FFF2-40B4-BE49-F238E27FC236}">
                <a16:creationId xmlns:a16="http://schemas.microsoft.com/office/drawing/2014/main" id="{C1D51791-ED62-4747-9108-3FC852DE52B0}"/>
              </a:ext>
            </a:extLst>
          </p:cNvPr>
          <p:cNvSpPr>
            <a:spLocks xmlns:a="http://schemas.openxmlformats.org/drawingml/2006/main" noGrp="1"/>
          </p:cNvSpPr>
          <p:nvPr/>
        </p:nvSpPr>
        <p:spPr>
          <a:xfrm xmlns:a="http://schemas.openxmlformats.org/drawingml/2006/main">
            <a:off x="4895850" y="35433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i="0">
                <a:solidFill>
                  <a:srgbClr val="263E35"/>
                </a:solidFill>
                <a:latin typeface="Arial"/>
                <a:ea typeface="Arial"/>
                <a:cs typeface="Arial"/>
              </a:defRPr>
            </a:pPr>
            <a:r>
              <a:rPr sz="2175" b="1" i="0">
                <a:solidFill>
                  <a:srgbClr val="263E35"/>
                </a:solidFill>
                <a:latin typeface="Arial"/>
                <a:ea typeface="Arial"/>
                <a:cs typeface="Arial"/>
              </a:rPr>
              <a:t>They already have a product</a:t>
            </a:r>
          </a:p>
        </p:txBody>
      </p:sp>
      <p:sp>
        <p:nvSpPr>
          <p:cNvPr id="8" name="text-30">
            <a:extLst xmlns:a="http://schemas.openxmlformats.org/drawingml/2006/main">
              <a:ext uri="{FF2B5EF4-FFF2-40B4-BE49-F238E27FC236}">
                <a16:creationId xmlns:a16="http://schemas.microsoft.com/office/drawing/2014/main" id="{BD4A4B20-B416-4860-9A13-7F5EC95DCDD3}"/>
              </a:ext>
            </a:extLst>
          </p:cNvPr>
          <p:cNvSpPr>
            <a:spLocks xmlns:a="http://schemas.openxmlformats.org/drawingml/2006/main" noGrp="1"/>
          </p:cNvSpPr>
          <p:nvPr/>
        </p:nvSpPr>
        <p:spPr>
          <a:xfrm xmlns:a="http://schemas.openxmlformats.org/drawingml/2006/main">
            <a:off x="4895850" y="40100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i="0">
                <a:solidFill>
                  <a:srgbClr val="657269"/>
                </a:solidFill>
                <a:latin typeface="Arial"/>
                <a:ea typeface="Arial"/>
                <a:cs typeface="Arial"/>
              </a:defRPr>
            </a:pPr>
            <a:r>
              <a:rPr sz="1800" b="0" i="0">
                <a:solidFill>
                  <a:srgbClr val="657269"/>
                </a:solidFill>
                <a:latin typeface="Arial"/>
                <a:ea typeface="Arial"/>
                <a:cs typeface="Arial"/>
              </a:rPr>
              <a:t>They need to launch, improve listings and run recurring campaigns.</a:t>
            </a:r>
          </a:p>
        </p:txBody>
      </p:sp>
      <p:sp>
        <p:nvSpPr>
          <p:cNvPr id="9" name="text-31">
            <a:extLst xmlns:a="http://schemas.openxmlformats.org/drawingml/2006/main">
              <a:ext uri="{FF2B5EF4-FFF2-40B4-BE49-F238E27FC236}">
                <a16:creationId xmlns:a16="http://schemas.microsoft.com/office/drawing/2014/main" id="{A3695740-FA01-4518-AAC3-66E848D023B1}"/>
              </a:ext>
            </a:extLst>
          </p:cNvPr>
          <p:cNvSpPr>
            <a:spLocks xmlns:a="http://schemas.openxmlformats.org/drawingml/2006/main" noGrp="1"/>
          </p:cNvSpPr>
          <p:nvPr/>
        </p:nvSpPr>
        <p:spPr>
          <a:xfrm xmlns:a="http://schemas.openxmlformats.org/drawingml/2006/main">
            <a:off x="4895850" y="4924425"/>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i="0">
                <a:solidFill>
                  <a:srgbClr val="263E35"/>
                </a:solidFill>
                <a:latin typeface="Arial"/>
                <a:ea typeface="Arial"/>
                <a:cs typeface="Arial"/>
              </a:defRPr>
            </a:pPr>
            <a:r>
              <a:rPr sz="2175" b="1" i="0">
                <a:solidFill>
                  <a:srgbClr val="263E35"/>
                </a:solidFill>
                <a:latin typeface="Arial"/>
                <a:ea typeface="Arial"/>
                <a:cs typeface="Arial"/>
              </a:rPr>
              <a:t>They are still doing the handoffs</a:t>
            </a:r>
          </a:p>
        </p:txBody>
      </p:sp>
      <p:sp>
        <p:nvSpPr>
          <p:cNvPr id="10" name="text-32">
            <a:extLst xmlns:a="http://schemas.openxmlformats.org/drawingml/2006/main">
              <a:ext uri="{FF2B5EF4-FFF2-40B4-BE49-F238E27FC236}">
                <a16:creationId xmlns:a16="http://schemas.microsoft.com/office/drawing/2014/main" id="{725A97C6-6946-49D0-B39F-9F23FF6F7C28}"/>
              </a:ext>
            </a:extLst>
          </p:cNvPr>
          <p:cNvSpPr>
            <a:spLocks xmlns:a="http://schemas.openxmlformats.org/drawingml/2006/main" noGrp="1"/>
          </p:cNvSpPr>
          <p:nvPr/>
        </p:nvSpPr>
        <p:spPr>
          <a:xfrm xmlns:a="http://schemas.openxmlformats.org/drawingml/2006/main">
            <a:off x="4895850" y="53911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i="0">
                <a:solidFill>
                  <a:srgbClr val="657269"/>
                </a:solidFill>
                <a:latin typeface="Arial"/>
                <a:ea typeface="Arial"/>
                <a:cs typeface="Arial"/>
              </a:defRPr>
            </a:pPr>
            <a:r>
              <a:rPr sz="1800" b="0" i="0">
                <a:solidFill>
                  <a:srgbClr val="657269"/>
                </a:solidFill>
                <a:latin typeface="Arial"/>
                <a:ea typeface="Arial"/>
                <a:cs typeface="Arial"/>
              </a:rPr>
              <a:t>The founder reviews creative, fixes store content and decides where to spend.</a:t>
            </a:r>
          </a:p>
        </p:txBody>
      </p:sp>
    </p:spTree>
    <p:extLst>
      <p:ext uri="{BB962C8B-B14F-4D97-AF65-F5344CB8AC3E}">
        <p14:creationId xmlns:p14="http://schemas.microsoft.com/office/powerpoint/2010/main" val="1789612308"/>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7" name="text-33">
            <a:extLst xmlns:a="http://schemas.openxmlformats.org/drawingml/2006/main">
              <a:ext uri="{FF2B5EF4-FFF2-40B4-BE49-F238E27FC236}">
                <a16:creationId xmlns:a16="http://schemas.microsoft.com/office/drawing/2014/main" id="{2371D2F5-173B-40DA-86E4-205EF6EFDC6C}"/>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263E35"/>
                </a:solidFill>
                <a:latin typeface="Arial"/>
                <a:ea typeface="Arial"/>
                <a:cs typeface="Arial"/>
              </a:defRPr>
            </a:pPr>
            <a:r>
              <a:rPr sz="1350" b="1" i="0">
                <a:solidFill>
                  <a:srgbClr val="263E35"/>
                </a:solidFill>
                <a:latin typeface="Arial"/>
                <a:ea typeface="Arial"/>
                <a:cs typeface="Arial"/>
              </a:rPr>
              <a:t>RunMyStore</a:t>
            </a:r>
          </a:p>
        </p:txBody>
      </p:sp>
      <p:sp>
        <p:nvSpPr>
          <p:cNvPr id="2" name="text-34">
            <a:extLst xmlns:a="http://schemas.openxmlformats.org/drawingml/2006/main">
              <a:ext uri="{FF2B5EF4-FFF2-40B4-BE49-F238E27FC236}">
                <a16:creationId xmlns:a16="http://schemas.microsoft.com/office/drawing/2014/main" id="{003A2EB4-C9F0-49C8-BE3B-33FF7755A969}"/>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657269"/>
                </a:solidFill>
                <a:latin typeface="Arial"/>
                <a:ea typeface="Arial"/>
                <a:cs typeface="Arial"/>
              </a:defRPr>
            </a:pPr>
            <a:r>
              <a:rPr sz="1200" b="0" i="0">
                <a:solidFill>
                  <a:srgbClr val="657269"/>
                </a:solidFill>
                <a:latin typeface="Arial"/>
                <a:ea typeface="Arial"/>
                <a:cs typeface="Arial"/>
              </a:rPr>
              <a:t>MARKET MODEL + ILLUSTRATIONS</a:t>
            </a:r>
          </a:p>
        </p:txBody>
      </p:sp>
      <p:sp>
        <p:nvSpPr>
          <p:cNvPr id="3" name="text-35">
            <a:extLst xmlns:a="http://schemas.openxmlformats.org/drawingml/2006/main">
              <a:ext uri="{FF2B5EF4-FFF2-40B4-BE49-F238E27FC236}">
                <a16:creationId xmlns:a16="http://schemas.microsoft.com/office/drawing/2014/main" id="{72B9D41C-C4FC-40F1-AB94-E500D42FFA5A}"/>
              </a:ext>
            </a:extLst>
          </p:cNvPr>
          <p:cNvSpPr>
            <a:spLocks xmlns:a="http://schemas.openxmlformats.org/drawingml/2006/main" noGrp="1"/>
          </p:cNvSpPr>
          <p:nvPr/>
        </p:nvSpPr>
        <p:spPr>
          <a:xfrm xmlns:a="http://schemas.openxmlformats.org/drawingml/2006/main">
            <a:off x="533400" y="933450"/>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i="0">
                <a:solidFill>
                  <a:srgbClr val="263E35"/>
                </a:solidFill>
                <a:latin typeface="Georgia"/>
                <a:ea typeface="Georgia"/>
                <a:cs typeface="Georgia"/>
              </a:defRPr>
            </a:pPr>
            <a:r>
              <a:rPr sz="3750" b="0" i="0">
                <a:solidFill>
                  <a:srgbClr val="263E35"/>
                </a:solidFill>
                <a:latin typeface="Georgia"/>
                <a:ea typeface="Georgia"/>
                <a:cs typeface="Georgia"/>
              </a:rPr>
              <a:t>Market opportunity and merchant friction</a:t>
            </a:r>
          </a:p>
        </p:txBody>
      </p:sp>
      <p:sp>
        <p:nvSpPr>
          <p:cNvPr id="4" name="text-36">
            <a:extLst xmlns:a="http://schemas.openxmlformats.org/drawingml/2006/main">
              <a:ext uri="{FF2B5EF4-FFF2-40B4-BE49-F238E27FC236}">
                <a16:creationId xmlns:a16="http://schemas.microsoft.com/office/drawing/2014/main" id="{2947EE8F-7389-453C-A52F-D7C2F516F910}"/>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657269"/>
                </a:solidFill>
                <a:latin typeface="Arial"/>
                <a:ea typeface="Arial"/>
                <a:cs typeface="Arial"/>
              </a:defRPr>
            </a:pPr>
            <a:r>
              <a:rPr sz="1125" b="0" i="0">
                <a:solidFill>
                  <a:srgbClr val="657269"/>
                </a:solidFill>
                <a:latin typeface="Arial"/>
                <a:ea typeface="Arial"/>
                <a:cs typeface="Arial"/>
              </a:rPr>
              <a:t>04</a:t>
            </a:r>
          </a:p>
        </p:txBody>
      </p:sp>
      <p:sp>
        <p:nvSpPr>
          <p:cNvPr id="5" name="text-37">
            <a:extLst xmlns:a="http://schemas.openxmlformats.org/drawingml/2006/main">
              <a:ext uri="{FF2B5EF4-FFF2-40B4-BE49-F238E27FC236}">
                <a16:creationId xmlns:a16="http://schemas.microsoft.com/office/drawing/2014/main" id="{628BE6F3-6FA3-47A8-B77C-5B7C1B2EDAAE}"/>
              </a:ext>
            </a:extLst>
          </p:cNvPr>
          <p:cNvSpPr>
            <a:spLocks xmlns:a="http://schemas.openxmlformats.org/drawingml/2006/main" noGrp="1"/>
          </p:cNvSpPr>
          <p:nvPr/>
        </p:nvSpPr>
        <p:spPr>
          <a:xfrm xmlns:a="http://schemas.openxmlformats.org/drawingml/2006/main">
            <a:off x="533400" y="2076450"/>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0" i="0">
                <a:solidFill>
                  <a:srgbClr val="263E35"/>
                </a:solidFill>
                <a:latin typeface="Georgia"/>
                <a:ea typeface="Georgia"/>
                <a:cs typeface="Georgia"/>
              </a:defRPr>
            </a:pPr>
            <a:r>
              <a:rPr sz="4500" b="0" i="0">
                <a:solidFill>
                  <a:srgbClr val="263E35"/>
                </a:solidFill>
                <a:latin typeface="Georgia"/>
                <a:ea typeface="Georgia"/>
                <a:cs typeface="Georgia"/>
              </a:rPr>
              <a:t>14.0M</a:t>
            </a:r>
          </a:p>
        </p:txBody>
      </p:sp>
      <p:sp>
        <p:nvSpPr>
          <p:cNvPr id="6" name="text-38">
            <a:extLst xmlns:a="http://schemas.openxmlformats.org/drawingml/2006/main">
              <a:ext uri="{FF2B5EF4-FFF2-40B4-BE49-F238E27FC236}">
                <a16:creationId xmlns:a16="http://schemas.microsoft.com/office/drawing/2014/main" id="{45F49287-65BA-4F7B-800B-A7D768815D29}"/>
              </a:ext>
            </a:extLst>
          </p:cNvPr>
          <p:cNvSpPr>
            <a:spLocks xmlns:a="http://schemas.openxmlformats.org/drawingml/2006/main" noGrp="1"/>
          </p:cNvSpPr>
          <p:nvPr/>
        </p:nvSpPr>
        <p:spPr>
          <a:xfrm xmlns:a="http://schemas.openxmlformats.org/drawingml/2006/main">
            <a:off x="533400" y="2838450"/>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263E35"/>
                </a:solidFill>
                <a:latin typeface="Arial"/>
                <a:ea typeface="Arial"/>
                <a:cs typeface="Arial"/>
              </a:defRPr>
            </a:pPr>
            <a:r>
              <a:rPr sz="1725" b="0" i="0">
                <a:solidFill>
                  <a:srgbClr val="263E35"/>
                </a:solidFill>
                <a:latin typeface="Arial"/>
                <a:ea typeface="Arial"/>
                <a:cs typeface="Arial"/>
              </a:rPr>
              <a:t>Live stores detected globally</a:t>
            </a:r>
          </a:p>
        </p:txBody>
      </p:sp>
      <p:sp>
        <p:nvSpPr>
          <p:cNvPr id="7" name="text-39">
            <a:extLst xmlns:a="http://schemas.openxmlformats.org/drawingml/2006/main">
              <a:ext uri="{FF2B5EF4-FFF2-40B4-BE49-F238E27FC236}">
                <a16:creationId xmlns:a16="http://schemas.microsoft.com/office/drawing/2014/main" id="{085EACB3-48C9-4CAD-BA4B-CA649EC0B875}"/>
              </a:ext>
            </a:extLst>
          </p:cNvPr>
          <p:cNvSpPr>
            <a:spLocks xmlns:a="http://schemas.openxmlformats.org/drawingml/2006/main" noGrp="1"/>
          </p:cNvSpPr>
          <p:nvPr/>
        </p:nvSpPr>
        <p:spPr>
          <a:xfrm xmlns:a="http://schemas.openxmlformats.org/drawingml/2006/main">
            <a:off x="4362450" y="2076450"/>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0" i="0">
                <a:solidFill>
                  <a:srgbClr val="A75132"/>
                </a:solidFill>
                <a:latin typeface="Georgia"/>
                <a:ea typeface="Georgia"/>
                <a:cs typeface="Georgia"/>
              </a:defRPr>
            </a:pPr>
            <a:r>
              <a:rPr sz="4500" b="0" i="0">
                <a:solidFill>
                  <a:srgbClr val="A75132"/>
                </a:solidFill>
                <a:latin typeface="Georgia"/>
                <a:ea typeface="Georgia"/>
                <a:cs typeface="Georgia"/>
              </a:rPr>
              <a:t>$1.66B</a:t>
            </a:r>
          </a:p>
        </p:txBody>
      </p:sp>
      <p:sp>
        <p:nvSpPr>
          <p:cNvPr id="8" name="text-40">
            <a:extLst xmlns:a="http://schemas.openxmlformats.org/drawingml/2006/main">
              <a:ext uri="{FF2B5EF4-FFF2-40B4-BE49-F238E27FC236}">
                <a16:creationId xmlns:a16="http://schemas.microsoft.com/office/drawing/2014/main" id="{B830DD64-7FC8-4D60-AC4E-51696FA9FB16}"/>
              </a:ext>
            </a:extLst>
          </p:cNvPr>
          <p:cNvSpPr>
            <a:spLocks xmlns:a="http://schemas.openxmlformats.org/drawingml/2006/main" noGrp="1"/>
          </p:cNvSpPr>
          <p:nvPr/>
        </p:nvSpPr>
        <p:spPr>
          <a:xfrm xmlns:a="http://schemas.openxmlformats.org/drawingml/2006/main">
            <a:off x="4362450" y="2838450"/>
            <a:ext cx="3276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263E35"/>
                </a:solidFill>
                <a:latin typeface="Arial"/>
                <a:ea typeface="Arial"/>
                <a:cs typeface="Arial"/>
              </a:defRPr>
            </a:pPr>
            <a:r>
              <a:rPr sz="1725" b="0" i="0">
                <a:solidFill>
                  <a:srgbClr val="263E35"/>
                </a:solidFill>
                <a:latin typeface="Arial"/>
                <a:ea typeface="Arial"/>
                <a:cs typeface="Arial"/>
              </a:rPr>
              <a:t>Indicative annual software TAM</a:t>
            </a:r>
          </a:p>
        </p:txBody>
      </p:sp>
      <p:sp>
        <p:nvSpPr>
          <p:cNvPr id="9" name="text-41">
            <a:extLst xmlns:a="http://schemas.openxmlformats.org/drawingml/2006/main">
              <a:ext uri="{FF2B5EF4-FFF2-40B4-BE49-F238E27FC236}">
                <a16:creationId xmlns:a16="http://schemas.microsoft.com/office/drawing/2014/main" id="{C915A27B-D3E3-4A1E-8285-BE8297DA654A}"/>
              </a:ext>
            </a:extLst>
          </p:cNvPr>
          <p:cNvSpPr>
            <a:spLocks xmlns:a="http://schemas.openxmlformats.org/drawingml/2006/main" noGrp="1"/>
          </p:cNvSpPr>
          <p:nvPr/>
        </p:nvSpPr>
        <p:spPr>
          <a:xfrm xmlns:a="http://schemas.openxmlformats.org/drawingml/2006/main">
            <a:off x="8191500" y="2076450"/>
            <a:ext cx="3467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0" i="0">
                <a:solidFill>
                  <a:srgbClr val="A75132"/>
                </a:solidFill>
                <a:latin typeface="Georgia"/>
                <a:ea typeface="Georgia"/>
                <a:cs typeface="Georgia"/>
              </a:defRPr>
            </a:pPr>
            <a:r>
              <a:rPr sz="4500" b="0" i="0">
                <a:solidFill>
                  <a:srgbClr val="A75132"/>
                </a:solidFill>
                <a:latin typeface="Georgia"/>
                <a:ea typeface="Georgia"/>
                <a:cs typeface="Georgia"/>
              </a:rPr>
              <a:t>$376M</a:t>
            </a:r>
          </a:p>
        </p:txBody>
      </p:sp>
      <p:sp>
        <p:nvSpPr>
          <p:cNvPr id="10" name="text-42">
            <a:extLst xmlns:a="http://schemas.openxmlformats.org/drawingml/2006/main">
              <a:ext uri="{FF2B5EF4-FFF2-40B4-BE49-F238E27FC236}">
                <a16:creationId xmlns:a16="http://schemas.microsoft.com/office/drawing/2014/main" id="{CCD2C590-046D-4C97-A963-818501FB6BA9}"/>
              </a:ext>
            </a:extLst>
          </p:cNvPr>
          <p:cNvSpPr>
            <a:spLocks xmlns:a="http://schemas.openxmlformats.org/drawingml/2006/main" noGrp="1"/>
          </p:cNvSpPr>
          <p:nvPr/>
        </p:nvSpPr>
        <p:spPr>
          <a:xfrm xmlns:a="http://schemas.openxmlformats.org/drawingml/2006/main">
            <a:off x="8191500" y="283845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263E35"/>
                </a:solidFill>
                <a:latin typeface="Arial"/>
                <a:ea typeface="Arial"/>
                <a:cs typeface="Arial"/>
              </a:defRPr>
            </a:pPr>
            <a:r>
              <a:rPr sz="1725" b="0" i="0">
                <a:solidFill>
                  <a:srgbClr val="263E35"/>
                </a:solidFill>
                <a:latin typeface="Arial"/>
                <a:ea typeface="Arial"/>
                <a:cs typeface="Arial"/>
              </a:rPr>
              <a:t>Initial Shopify SAM scenario</a:t>
            </a:r>
          </a:p>
        </p:txBody>
      </p:sp>
      <p:sp>
        <p:nvSpPr>
          <p:cNvPr id="11" name="text-43">
            <a:extLst xmlns:a="http://schemas.openxmlformats.org/drawingml/2006/main">
              <a:ext uri="{FF2B5EF4-FFF2-40B4-BE49-F238E27FC236}">
                <a16:creationId xmlns:a16="http://schemas.microsoft.com/office/drawing/2014/main" id="{A26E7504-ED65-466D-9816-269983950FD4}"/>
              </a:ext>
            </a:extLst>
          </p:cNvPr>
          <p:cNvSpPr>
            <a:spLocks xmlns:a="http://schemas.openxmlformats.org/drawingml/2006/main" noGrp="1"/>
          </p:cNvSpPr>
          <p:nvPr/>
        </p:nvSpPr>
        <p:spPr>
          <a:xfrm xmlns:a="http://schemas.openxmlformats.org/drawingml/2006/main">
            <a:off x="533400" y="33813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i="0">
                <a:solidFill>
                  <a:srgbClr val="657269"/>
                </a:solidFill>
                <a:latin typeface="Arial"/>
                <a:ea typeface="Arial"/>
                <a:cs typeface="Arial"/>
              </a:defRPr>
            </a:pPr>
            <a:r>
              <a:rPr sz="1425" b="0" i="0">
                <a:solidFill>
                  <a:srgbClr val="657269"/>
                </a:solidFill>
                <a:latin typeface="Arial"/>
                <a:ea typeface="Arial"/>
                <a:cs typeface="Arial"/>
              </a:rPr>
              <a:t>USD model: live stores × 10% assumed fit × $99/month × 12. Shopify subset: 3.16M.</a:t>
            </a:r>
          </a:p>
        </p:txBody>
      </p:sp>
      <p:sp>
        <p:nvSpPr>
          <p:cNvPr id="12" name="text-44">
            <a:extLst xmlns:a="http://schemas.openxmlformats.org/drawingml/2006/main">
              <a:ext uri="{FF2B5EF4-FFF2-40B4-BE49-F238E27FC236}">
                <a16:creationId xmlns:a16="http://schemas.microsoft.com/office/drawing/2014/main" id="{6E209722-F2E6-4576-A3B2-593342EF356B}"/>
              </a:ext>
            </a:extLst>
          </p:cNvPr>
          <p:cNvSpPr>
            <a:spLocks xmlns:a="http://schemas.openxmlformats.org/drawingml/2006/main" noGrp="1"/>
          </p:cNvSpPr>
          <p:nvPr/>
        </p:nvSpPr>
        <p:spPr>
          <a:xfrm xmlns:a="http://schemas.openxmlformats.org/drawingml/2006/main">
            <a:off x="533400" y="3943350"/>
            <a:ext cx="5410200" cy="1952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171450" tIns="171450" rIns="171450" bIns="171450" anchor="t">
            <a:noAutofit/>
          </a:bodyPr>
          <a:lstStyle xmlns:a="http://schemas.openxmlformats.org/drawingml/2006/main"/>
          <a:p xmlns:a="http://schemas.openxmlformats.org/drawingml/2006/main">
            <a:pPr>
              <a:defRPr sz="1275" b="1" i="0">
                <a:solidFill>
                  <a:srgbClr val="A75132"/>
                </a:solidFill>
                <a:latin typeface="Arial"/>
                <a:ea typeface="Arial"/>
                <a:cs typeface="Arial"/>
              </a:defRPr>
            </a:pPr>
            <a:r>
              <a:rPr sz="1275" b="1" i="0">
                <a:solidFill>
                  <a:srgbClr val="A75132"/>
                </a:solidFill>
                <a:latin typeface="Arial"/>
                <a:ea typeface="Arial"/>
                <a:cs typeface="Arial"/>
              </a:rPr>
              <a:t>Fictional merchant A</a:t>
            </a:r>
          </a:p>
          <a:p xmlns:a="http://schemas.openxmlformats.org/drawingml/2006/main">
            <a:pPr>
              <a:defRPr sz="1275" b="1" i="0">
                <a:solidFill>
                  <a:srgbClr val="A75132"/>
                </a:solidFill>
                <a:latin typeface="Arial"/>
                <a:ea typeface="Arial"/>
                <a:cs typeface="Arial"/>
              </a:defRPr>
            </a:pPr>
            <a:r>
              <a:rPr sz="1275" b="1" i="0">
                <a:solidFill>
                  <a:srgbClr val="A75132"/>
                </a:solidFill>
                <a:latin typeface="Arial"/>
                <a:ea typeface="Arial"/>
                <a:cs typeface="Arial"/>
              </a:rPr>
              <a:t>ILLUSTRATIVE POST, NOT A REAL TWEET</a:t>
            </a:r>
          </a:p>
        </p:txBody>
      </p:sp>
      <p:sp>
        <p:nvSpPr>
          <p:cNvPr id="13" name="text-45">
            <a:extLst xmlns:a="http://schemas.openxmlformats.org/drawingml/2006/main">
              <a:ext uri="{FF2B5EF4-FFF2-40B4-BE49-F238E27FC236}">
                <a16:creationId xmlns:a16="http://schemas.microsoft.com/office/drawing/2014/main" id="{D95CDCE9-A61B-4D31-998E-59BC4851C6EE}"/>
              </a:ext>
            </a:extLst>
          </p:cNvPr>
          <p:cNvSpPr>
            <a:spLocks xmlns:a="http://schemas.openxmlformats.org/drawingml/2006/main" noGrp="1"/>
          </p:cNvSpPr>
          <p:nvPr/>
        </p:nvSpPr>
        <p:spPr>
          <a:xfrm xmlns:a="http://schemas.openxmlformats.org/drawingml/2006/main">
            <a:off x="704850" y="4533900"/>
            <a:ext cx="5067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i="0">
                <a:solidFill>
                  <a:srgbClr val="263E35"/>
                </a:solidFill>
                <a:latin typeface="Arial"/>
                <a:ea typeface="Arial"/>
                <a:cs typeface="Arial"/>
              </a:defRPr>
            </a:pPr>
            <a:r>
              <a:rPr sz="1650" b="0" i="0">
                <a:solidFill>
                  <a:srgbClr val="263E35"/>
                </a:solidFill>
                <a:latin typeface="Arial"/>
                <a:ea typeface="Arial"/>
                <a:cs typeface="Arial"/>
              </a:rPr>
              <a:t>I started a brand to make better products. Today I’m rewriting listings, resizing ads and switching dashboards. When do I get back to the product?</a:t>
            </a:r>
          </a:p>
        </p:txBody>
      </p:sp>
      <p:sp>
        <p:nvSpPr>
          <p:cNvPr id="14" name="text-46">
            <a:extLst xmlns:a="http://schemas.openxmlformats.org/drawingml/2006/main">
              <a:ext uri="{FF2B5EF4-FFF2-40B4-BE49-F238E27FC236}">
                <a16:creationId xmlns:a16="http://schemas.microsoft.com/office/drawing/2014/main" id="{6FA5C8D7-2B63-4135-9386-9FEA454AECA6}"/>
              </a:ext>
            </a:extLst>
          </p:cNvPr>
          <p:cNvSpPr>
            <a:spLocks xmlns:a="http://schemas.openxmlformats.org/drawingml/2006/main" noGrp="1"/>
          </p:cNvSpPr>
          <p:nvPr/>
        </p:nvSpPr>
        <p:spPr>
          <a:xfrm xmlns:a="http://schemas.openxmlformats.org/drawingml/2006/main">
            <a:off x="6248400" y="3943350"/>
            <a:ext cx="5410200" cy="195262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171450" tIns="171450" rIns="171450" bIns="171450" anchor="t">
            <a:noAutofit/>
          </a:bodyPr>
          <a:lstStyle xmlns:a="http://schemas.openxmlformats.org/drawingml/2006/main"/>
          <a:p xmlns:a="http://schemas.openxmlformats.org/drawingml/2006/main">
            <a:pPr>
              <a:defRPr sz="1275" b="1" i="0">
                <a:solidFill>
                  <a:srgbClr val="A75132"/>
                </a:solidFill>
                <a:latin typeface="Arial"/>
                <a:ea typeface="Arial"/>
                <a:cs typeface="Arial"/>
              </a:defRPr>
            </a:pPr>
            <a:r>
              <a:rPr sz="1275" b="1" i="0">
                <a:solidFill>
                  <a:srgbClr val="A75132"/>
                </a:solidFill>
                <a:latin typeface="Arial"/>
                <a:ea typeface="Arial"/>
                <a:cs typeface="Arial"/>
              </a:rPr>
              <a:t>Fictional merchant B</a:t>
            </a:r>
          </a:p>
          <a:p xmlns:a="http://schemas.openxmlformats.org/drawingml/2006/main">
            <a:pPr>
              <a:defRPr sz="1275" b="1" i="0">
                <a:solidFill>
                  <a:srgbClr val="A75132"/>
                </a:solidFill>
                <a:latin typeface="Arial"/>
                <a:ea typeface="Arial"/>
                <a:cs typeface="Arial"/>
              </a:defRPr>
            </a:pPr>
            <a:r>
              <a:rPr sz="1275" b="1" i="0">
                <a:solidFill>
                  <a:srgbClr val="A75132"/>
                </a:solidFill>
                <a:latin typeface="Arial"/>
                <a:ea typeface="Arial"/>
                <a:cs typeface="Arial"/>
              </a:rPr>
              <a:t>ILLUSTRATIVE POST, NOT A REAL TWEET</a:t>
            </a:r>
          </a:p>
        </p:txBody>
      </p:sp>
      <p:sp>
        <p:nvSpPr>
          <p:cNvPr id="15" name="text-47">
            <a:extLst xmlns:a="http://schemas.openxmlformats.org/drawingml/2006/main">
              <a:ext uri="{FF2B5EF4-FFF2-40B4-BE49-F238E27FC236}">
                <a16:creationId xmlns:a16="http://schemas.microsoft.com/office/drawing/2014/main" id="{ADC7DC1E-AC08-4750-AA49-404C60B9F5B0}"/>
              </a:ext>
            </a:extLst>
          </p:cNvPr>
          <p:cNvSpPr>
            <a:spLocks xmlns:a="http://schemas.openxmlformats.org/drawingml/2006/main" noGrp="1"/>
          </p:cNvSpPr>
          <p:nvPr/>
        </p:nvSpPr>
        <p:spPr>
          <a:xfrm xmlns:a="http://schemas.openxmlformats.org/drawingml/2006/main">
            <a:off x="6419850" y="4533900"/>
            <a:ext cx="5067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i="0">
                <a:solidFill>
                  <a:srgbClr val="263E35"/>
                </a:solidFill>
                <a:latin typeface="Arial"/>
                <a:ea typeface="Arial"/>
                <a:cs typeface="Arial"/>
              </a:defRPr>
            </a:pPr>
            <a:r>
              <a:rPr sz="1650" b="0" i="0">
                <a:solidFill>
                  <a:srgbClr val="263E35"/>
                </a:solidFill>
                <a:latin typeface="Arial"/>
                <a:ea typeface="Arial"/>
                <a:cs typeface="Arial"/>
              </a:rPr>
              <a:t>My Shopify admin feels slow today. I only wanted to update a product. Now I’m waiting, refreshing and troubleshooting instead of working on my store.</a:t>
            </a:r>
          </a:p>
        </p:txBody>
      </p:sp>
      <p:sp>
        <p:nvSpPr>
          <p:cNvPr id="16" name="text-48">
            <a:extLst xmlns:a="http://schemas.openxmlformats.org/drawingml/2006/main">
              <a:ext uri="{FF2B5EF4-FFF2-40B4-BE49-F238E27FC236}">
                <a16:creationId xmlns:a16="http://schemas.microsoft.com/office/drawing/2014/main" id="{A7A477A1-70B8-486E-908B-9790BAA24457}"/>
              </a:ext>
            </a:extLst>
          </p:cNvPr>
          <p:cNvSpPr>
            <a:spLocks xmlns:a="http://schemas.openxmlformats.org/drawingml/2006/main" noGrp="1"/>
          </p:cNvSpPr>
          <p:nvPr/>
        </p:nvSpPr>
        <p:spPr>
          <a:xfrm xmlns:a="http://schemas.openxmlformats.org/drawingml/2006/main">
            <a:off x="533400" y="62769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i="0">
                <a:solidFill>
                  <a:srgbClr val="657269"/>
                </a:solidFill>
                <a:latin typeface="Arial"/>
                <a:ea typeface="Arial"/>
                <a:cs typeface="Arial"/>
              </a:defRPr>
            </a:pPr>
            <a:r>
              <a:rPr sz="975" b="0" i="0">
                <a:solidFill>
                  <a:srgbClr val="657269"/>
                </a:solidFill>
                <a:latin typeface="Arial"/>
                <a:ea typeface="Arial"/>
                <a:cs typeface="Arial"/>
              </a:rPr>
              <a:t>Source: Store Leads, 16 Oct 2026. Domains ≠ unique merchants. Price and fit are assumptions.</a:t>
            </a:r>
          </a:p>
          <a:p xmlns:a="http://schemas.openxmlformats.org/drawingml/2006/main">
            <a:pPr>
              <a:defRPr sz="975" b="0" i="0">
                <a:solidFill>
                  <a:srgbClr val="657269"/>
                </a:solidFill>
                <a:latin typeface="Arial"/>
                <a:ea typeface="Arial"/>
                <a:cs typeface="Arial"/>
              </a:defRPr>
            </a:pPr>
            <a:r>
              <a:rPr sz="975" b="0" i="0">
                <a:solidFill>
                  <a:srgbClr val="657269"/>
                </a:solidFill>
                <a:latin typeface="Arial"/>
                <a:ea typeface="Arial"/>
                <a:cs typeface="Arial"/>
              </a:rPr>
              <a:t>Posts are invented illustrations, not evidence. Forum anecdotes do not prove Shopify is slow overall.</a:t>
            </a:r>
          </a:p>
        </p:txBody>
      </p:sp>
    </p:spTree>
    <p:extLst>
      <p:ext uri="{BB962C8B-B14F-4D97-AF65-F5344CB8AC3E}">
        <p14:creationId xmlns:p14="http://schemas.microsoft.com/office/powerpoint/2010/main" val="1872966957"/>
      </p:ext>
    </p:extLst>
  </p:cSld>
</p:sld>
</file>

<file path=ppt/slides/slide5.xml><?xml version="1.0" encoding="utf-8"?>
<p:sld xmlns:p="http://schemas.openxmlformats.org/presentationml/2006/main">
  <p:cSld>
    <p:bg>
      <p:bgPr>
        <a:solidFill xmlns:a="http://schemas.openxmlformats.org/drawingml/2006/main">
          <a:srgbClr val="263E35"/>
        </a:solidFill>
      </p:bgPr>
    </p:bg>
    <p:spTree>
      <p:nvGrpSpPr>
        <p:cNvPr id="1" name=""/>
        <p:cNvGrpSpPr/>
        <p:nvPr/>
      </p:nvGrpSpPr>
      <p:grpSpPr>
        <a:xfrm xmlns:a="http://schemas.openxmlformats.org/drawingml/2006/main"/>
      </p:grpSpPr>
      <p:sp>
        <p:nvSpPr>
          <p:cNvPr id="16" name="text-49">
            <a:extLst xmlns:a="http://schemas.openxmlformats.org/drawingml/2006/main">
              <a:ext uri="{FF2B5EF4-FFF2-40B4-BE49-F238E27FC236}">
                <a16:creationId xmlns:a16="http://schemas.microsoft.com/office/drawing/2014/main" id="{FA678396-F39B-4FBE-84FB-C9013CA1D173}"/>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F7F3E8"/>
                </a:solidFill>
                <a:latin typeface="Arial"/>
                <a:ea typeface="Arial"/>
                <a:cs typeface="Arial"/>
              </a:defRPr>
            </a:pPr>
            <a:r>
              <a:rPr sz="1350" b="1" i="0">
                <a:solidFill>
                  <a:srgbClr val="F7F3E8"/>
                </a:solidFill>
                <a:latin typeface="Arial"/>
                <a:ea typeface="Arial"/>
                <a:cs typeface="Arial"/>
              </a:rPr>
              <a:t>RunMyStore</a:t>
            </a:r>
          </a:p>
        </p:txBody>
      </p:sp>
      <p:sp>
        <p:nvSpPr>
          <p:cNvPr id="2" name="text-50">
            <a:extLst xmlns:a="http://schemas.openxmlformats.org/drawingml/2006/main">
              <a:ext uri="{FF2B5EF4-FFF2-40B4-BE49-F238E27FC236}">
                <a16:creationId xmlns:a16="http://schemas.microsoft.com/office/drawing/2014/main" id="{5E0C0177-DAFA-4C6E-AB5A-5565E6F7B804}"/>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C8D4C9"/>
                </a:solidFill>
                <a:latin typeface="Arial"/>
                <a:ea typeface="Arial"/>
                <a:cs typeface="Arial"/>
              </a:defRPr>
            </a:pPr>
            <a:r>
              <a:rPr sz="1200" b="0" i="0">
                <a:solidFill>
                  <a:srgbClr val="C8D4C9"/>
                </a:solidFill>
                <a:latin typeface="Arial"/>
                <a:ea typeface="Arial"/>
                <a:cs typeface="Arial"/>
              </a:rPr>
              <a:t>THE SOLUTION</a:t>
            </a:r>
          </a:p>
        </p:txBody>
      </p:sp>
      <p:sp>
        <p:nvSpPr>
          <p:cNvPr id="3" name="text-51">
            <a:extLst xmlns:a="http://schemas.openxmlformats.org/drawingml/2006/main">
              <a:ext uri="{FF2B5EF4-FFF2-40B4-BE49-F238E27FC236}">
                <a16:creationId xmlns:a16="http://schemas.microsoft.com/office/drawing/2014/main" id="{0DCF921C-64B4-4439-AA9A-977473011B95}"/>
              </a:ext>
            </a:extLst>
          </p:cNvPr>
          <p:cNvSpPr>
            <a:spLocks xmlns:a="http://schemas.openxmlformats.org/drawingml/2006/main" noGrp="1"/>
          </p:cNvSpPr>
          <p:nvPr/>
        </p:nvSpPr>
        <p:spPr>
          <a:xfrm xmlns:a="http://schemas.openxmlformats.org/drawingml/2006/main">
            <a:off x="533400" y="933450"/>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i="0">
                <a:solidFill>
                  <a:srgbClr val="F7F3E8"/>
                </a:solidFill>
                <a:latin typeface="Georgia"/>
                <a:ea typeface="Georgia"/>
                <a:cs typeface="Georgia"/>
              </a:defRPr>
            </a:pPr>
            <a:r>
              <a:rPr sz="3750" b="0" i="0">
                <a:solidFill>
                  <a:srgbClr val="F7F3E8"/>
                </a:solidFill>
                <a:latin typeface="Georgia"/>
                <a:ea typeface="Georgia"/>
                <a:cs typeface="Georgia"/>
              </a:rPr>
              <a:t>One workflow, shared product context</a:t>
            </a:r>
          </a:p>
        </p:txBody>
      </p:sp>
      <p:sp>
        <p:nvSpPr>
          <p:cNvPr id="4" name="text-52">
            <a:extLst xmlns:a="http://schemas.openxmlformats.org/drawingml/2006/main">
              <a:ext uri="{FF2B5EF4-FFF2-40B4-BE49-F238E27FC236}">
                <a16:creationId xmlns:a16="http://schemas.microsoft.com/office/drawing/2014/main" id="{B824EC12-BA63-4F80-8AA7-024E9C4739D9}"/>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C8D4C9"/>
                </a:solidFill>
                <a:latin typeface="Arial"/>
                <a:ea typeface="Arial"/>
                <a:cs typeface="Arial"/>
              </a:defRPr>
            </a:pPr>
            <a:r>
              <a:rPr sz="1125" b="0" i="0">
                <a:solidFill>
                  <a:srgbClr val="C8D4C9"/>
                </a:solidFill>
                <a:latin typeface="Arial"/>
                <a:ea typeface="Arial"/>
                <a:cs typeface="Arial"/>
              </a:rPr>
              <a:t>05</a:t>
            </a:r>
          </a:p>
        </p:txBody>
      </p:sp>
      <p:sp>
        <p:nvSpPr>
          <p:cNvPr id="5" name="text-53">
            <a:extLst xmlns:a="http://schemas.openxmlformats.org/drawingml/2006/main">
              <a:ext uri="{FF2B5EF4-FFF2-40B4-BE49-F238E27FC236}">
                <a16:creationId xmlns:a16="http://schemas.microsoft.com/office/drawing/2014/main" id="{79E8B992-2004-46C1-A828-EC68BEB22DCF}"/>
              </a:ext>
            </a:extLst>
          </p:cNvPr>
          <p:cNvSpPr>
            <a:spLocks xmlns:a="http://schemas.openxmlformats.org/drawingml/2006/main" noGrp="1"/>
          </p:cNvSpPr>
          <p:nvPr/>
        </p:nvSpPr>
        <p:spPr>
          <a:xfrm xmlns:a="http://schemas.openxmlformats.org/drawingml/2006/main">
            <a:off x="533400" y="2571750"/>
            <a:ext cx="213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i="0">
                <a:solidFill>
                  <a:srgbClr val="F7F3E8"/>
                </a:solidFill>
                <a:latin typeface="Georgia"/>
                <a:ea typeface="Georgia"/>
                <a:cs typeface="Georgia"/>
              </a:defRPr>
            </a:pPr>
            <a:r>
              <a:rPr sz="2550" b="0" i="0">
                <a:solidFill>
                  <a:srgbClr val="F7F3E8"/>
                </a:solidFill>
                <a:latin typeface="Georgia"/>
                <a:ea typeface="Georgia"/>
                <a:cs typeface="Georgia"/>
              </a:rPr>
              <a:t>Catalog</a:t>
            </a:r>
          </a:p>
        </p:txBody>
      </p:sp>
      <p:sp>
        <p:nvSpPr>
          <p:cNvPr id="6" name="text-54">
            <a:extLst xmlns:a="http://schemas.openxmlformats.org/drawingml/2006/main">
              <a:ext uri="{FF2B5EF4-FFF2-40B4-BE49-F238E27FC236}">
                <a16:creationId xmlns:a16="http://schemas.microsoft.com/office/drawing/2014/main" id="{B2501ECA-BFB9-4713-88BA-DA48A9F917A2}"/>
              </a:ext>
            </a:extLst>
          </p:cNvPr>
          <p:cNvSpPr>
            <a:spLocks xmlns:a="http://schemas.openxmlformats.org/drawingml/2006/main" noGrp="1"/>
          </p:cNvSpPr>
          <p:nvPr/>
        </p:nvSpPr>
        <p:spPr>
          <a:xfrm xmlns:a="http://schemas.openxmlformats.org/drawingml/2006/main">
            <a:off x="533400" y="3305175"/>
            <a:ext cx="2076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CBD5CA"/>
                </a:solidFill>
                <a:latin typeface="Arial"/>
                <a:ea typeface="Arial"/>
                <a:cs typeface="Arial"/>
              </a:defRPr>
            </a:pPr>
            <a:r>
              <a:rPr sz="1725" b="0" i="0">
                <a:solidFill>
                  <a:srgbClr val="CBD5CA"/>
                </a:solidFill>
                <a:latin typeface="Arial"/>
                <a:ea typeface="Arial"/>
                <a:cs typeface="Arial"/>
              </a:rPr>
              <a:t>Confirmed facts</a:t>
            </a:r>
          </a:p>
          <a:p xmlns:a="http://schemas.openxmlformats.org/drawingml/2006/main">
            <a:pPr>
              <a:defRPr sz="1725" b="0" i="0">
                <a:solidFill>
                  <a:srgbClr val="CBD5CA"/>
                </a:solidFill>
                <a:latin typeface="Arial"/>
                <a:ea typeface="Arial"/>
                <a:cs typeface="Arial"/>
              </a:defRPr>
            </a:pPr>
            <a:r>
              <a:rPr sz="1725" b="0" i="0">
                <a:solidFill>
                  <a:srgbClr val="CBD5CA"/>
                </a:solidFill>
                <a:latin typeface="Arial"/>
                <a:ea typeface="Arial"/>
                <a:cs typeface="Arial"/>
              </a:rPr>
              <a:t>and reusable assets</a:t>
            </a:r>
          </a:p>
        </p:txBody>
      </p:sp>
      <p:sp>
        <p:nvSpPr>
          <p:cNvPr id="7" name="text-55">
            <a:extLst xmlns:a="http://schemas.openxmlformats.org/drawingml/2006/main">
              <a:ext uri="{FF2B5EF4-FFF2-40B4-BE49-F238E27FC236}">
                <a16:creationId xmlns:a16="http://schemas.microsoft.com/office/drawing/2014/main" id="{8965A01E-0F5E-4915-9783-1207F1044C2A}"/>
              </a:ext>
            </a:extLst>
          </p:cNvPr>
          <p:cNvSpPr>
            <a:spLocks xmlns:a="http://schemas.openxmlformats.org/drawingml/2006/main" noGrp="1"/>
          </p:cNvSpPr>
          <p:nvPr/>
        </p:nvSpPr>
        <p:spPr>
          <a:xfrm xmlns:a="http://schemas.openxmlformats.org/drawingml/2006/main">
            <a:off x="2800350" y="2571750"/>
            <a:ext cx="213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i="0">
                <a:solidFill>
                  <a:srgbClr val="F7F3E8"/>
                </a:solidFill>
                <a:latin typeface="Georgia"/>
                <a:ea typeface="Georgia"/>
                <a:cs typeface="Georgia"/>
              </a:defRPr>
            </a:pPr>
            <a:r>
              <a:rPr sz="2550" b="0" i="0">
                <a:solidFill>
                  <a:srgbClr val="F7F3E8"/>
                </a:solidFill>
                <a:latin typeface="Georgia"/>
                <a:ea typeface="Georgia"/>
                <a:cs typeface="Georgia"/>
              </a:rPr>
              <a:t>Website</a:t>
            </a:r>
          </a:p>
        </p:txBody>
      </p:sp>
      <p:sp>
        <p:nvSpPr>
          <p:cNvPr id="8" name="text-56">
            <a:extLst xmlns:a="http://schemas.openxmlformats.org/drawingml/2006/main">
              <a:ext uri="{FF2B5EF4-FFF2-40B4-BE49-F238E27FC236}">
                <a16:creationId xmlns:a16="http://schemas.microsoft.com/office/drawing/2014/main" id="{7CA12E88-4700-4F85-B74A-893405DDC460}"/>
              </a:ext>
            </a:extLst>
          </p:cNvPr>
          <p:cNvSpPr>
            <a:spLocks xmlns:a="http://schemas.openxmlformats.org/drawingml/2006/main" noGrp="1"/>
          </p:cNvSpPr>
          <p:nvPr/>
        </p:nvSpPr>
        <p:spPr>
          <a:xfrm xmlns:a="http://schemas.openxmlformats.org/drawingml/2006/main">
            <a:off x="2800350" y="3305175"/>
            <a:ext cx="2076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CBD5CA"/>
                </a:solidFill>
                <a:latin typeface="Arial"/>
                <a:ea typeface="Arial"/>
                <a:cs typeface="Arial"/>
              </a:defRPr>
            </a:pPr>
            <a:r>
              <a:rPr sz="1725" b="0" i="0">
                <a:solidFill>
                  <a:srgbClr val="CBD5CA"/>
                </a:solidFill>
                <a:latin typeface="Arial"/>
                <a:ea typeface="Arial"/>
                <a:cs typeface="Arial"/>
              </a:rPr>
              <a:t>A storefront built</a:t>
            </a:r>
          </a:p>
          <a:p xmlns:a="http://schemas.openxmlformats.org/drawingml/2006/main">
            <a:pPr>
              <a:defRPr sz="1725" b="0" i="0">
                <a:solidFill>
                  <a:srgbClr val="CBD5CA"/>
                </a:solidFill>
                <a:latin typeface="Arial"/>
                <a:ea typeface="Arial"/>
                <a:cs typeface="Arial"/>
              </a:defRPr>
            </a:pPr>
            <a:r>
              <a:rPr sz="1725" b="0" i="0">
                <a:solidFill>
                  <a:srgbClr val="CBD5CA"/>
                </a:solidFill>
                <a:latin typeface="Arial"/>
                <a:ea typeface="Arial"/>
                <a:cs typeface="Arial"/>
              </a:rPr>
              <a:t>from the catalog</a:t>
            </a:r>
          </a:p>
        </p:txBody>
      </p:sp>
      <p:sp>
        <p:nvSpPr>
          <p:cNvPr id="9" name="text-57">
            <a:extLst xmlns:a="http://schemas.openxmlformats.org/drawingml/2006/main">
              <a:ext uri="{FF2B5EF4-FFF2-40B4-BE49-F238E27FC236}">
                <a16:creationId xmlns:a16="http://schemas.microsoft.com/office/drawing/2014/main" id="{0180AAA5-447B-4E46-BE61-8C023779BA59}"/>
              </a:ext>
            </a:extLst>
          </p:cNvPr>
          <p:cNvSpPr>
            <a:spLocks xmlns:a="http://schemas.openxmlformats.org/drawingml/2006/main" noGrp="1"/>
          </p:cNvSpPr>
          <p:nvPr/>
        </p:nvSpPr>
        <p:spPr>
          <a:xfrm xmlns:a="http://schemas.openxmlformats.org/drawingml/2006/main">
            <a:off x="5067300" y="2571750"/>
            <a:ext cx="213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i="0">
                <a:solidFill>
                  <a:srgbClr val="F7F3E8"/>
                </a:solidFill>
                <a:latin typeface="Georgia"/>
                <a:ea typeface="Georgia"/>
                <a:cs typeface="Georgia"/>
              </a:defRPr>
            </a:pPr>
            <a:r>
              <a:rPr sz="2550" b="0" i="0">
                <a:solidFill>
                  <a:srgbClr val="F7F3E8"/>
                </a:solidFill>
                <a:latin typeface="Georgia"/>
                <a:ea typeface="Georgia"/>
                <a:cs typeface="Georgia"/>
              </a:rPr>
              <a:t>Ads</a:t>
            </a:r>
          </a:p>
        </p:txBody>
      </p:sp>
      <p:sp>
        <p:nvSpPr>
          <p:cNvPr id="10" name="text-58">
            <a:extLst xmlns:a="http://schemas.openxmlformats.org/drawingml/2006/main">
              <a:ext uri="{FF2B5EF4-FFF2-40B4-BE49-F238E27FC236}">
                <a16:creationId xmlns:a16="http://schemas.microsoft.com/office/drawing/2014/main" id="{0C2DCFC5-2A7F-4513-8F09-98C80CFE0DB4}"/>
              </a:ext>
            </a:extLst>
          </p:cNvPr>
          <p:cNvSpPr>
            <a:spLocks xmlns:a="http://schemas.openxmlformats.org/drawingml/2006/main" noGrp="1"/>
          </p:cNvSpPr>
          <p:nvPr/>
        </p:nvSpPr>
        <p:spPr>
          <a:xfrm xmlns:a="http://schemas.openxmlformats.org/drawingml/2006/main">
            <a:off x="5067300" y="3305175"/>
            <a:ext cx="2076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CBD5CA"/>
                </a:solidFill>
                <a:latin typeface="Arial"/>
                <a:ea typeface="Arial"/>
                <a:cs typeface="Arial"/>
              </a:defRPr>
            </a:pPr>
            <a:r>
              <a:rPr sz="1725" b="0" i="0">
                <a:solidFill>
                  <a:srgbClr val="CBD5CA"/>
                </a:solidFill>
                <a:latin typeface="Arial"/>
                <a:ea typeface="Arial"/>
                <a:cs typeface="Arial"/>
              </a:rPr>
              <a:t>Creative based on</a:t>
            </a:r>
          </a:p>
          <a:p xmlns:a="http://schemas.openxmlformats.org/drawingml/2006/main">
            <a:pPr>
              <a:defRPr sz="1725" b="0" i="0">
                <a:solidFill>
                  <a:srgbClr val="CBD5CA"/>
                </a:solidFill>
                <a:latin typeface="Arial"/>
                <a:ea typeface="Arial"/>
                <a:cs typeface="Arial"/>
              </a:defRPr>
            </a:pPr>
            <a:r>
              <a:rPr sz="1725" b="0" i="0">
                <a:solidFill>
                  <a:srgbClr val="CBD5CA"/>
                </a:solidFill>
                <a:latin typeface="Arial"/>
                <a:ea typeface="Arial"/>
                <a:cs typeface="Arial"/>
              </a:rPr>
              <a:t>the same product</a:t>
            </a:r>
          </a:p>
        </p:txBody>
      </p:sp>
      <p:sp>
        <p:nvSpPr>
          <p:cNvPr id="11" name="text-59">
            <a:extLst xmlns:a="http://schemas.openxmlformats.org/drawingml/2006/main">
              <a:ext uri="{FF2B5EF4-FFF2-40B4-BE49-F238E27FC236}">
                <a16:creationId xmlns:a16="http://schemas.microsoft.com/office/drawing/2014/main" id="{F4A97BF9-53E6-4FCC-9B9B-EB4052FF8D3A}"/>
              </a:ext>
            </a:extLst>
          </p:cNvPr>
          <p:cNvSpPr>
            <a:spLocks xmlns:a="http://schemas.openxmlformats.org/drawingml/2006/main" noGrp="1"/>
          </p:cNvSpPr>
          <p:nvPr/>
        </p:nvSpPr>
        <p:spPr>
          <a:xfrm xmlns:a="http://schemas.openxmlformats.org/drawingml/2006/main">
            <a:off x="7334250" y="2571750"/>
            <a:ext cx="213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i="0">
                <a:solidFill>
                  <a:srgbClr val="F7F3E8"/>
                </a:solidFill>
                <a:latin typeface="Georgia"/>
                <a:ea typeface="Georgia"/>
                <a:cs typeface="Georgia"/>
              </a:defRPr>
            </a:pPr>
            <a:r>
              <a:rPr sz="2550" b="0" i="0">
                <a:solidFill>
                  <a:srgbClr val="F7F3E8"/>
                </a:solidFill>
                <a:latin typeface="Georgia"/>
                <a:ea typeface="Georgia"/>
                <a:cs typeface="Georgia"/>
              </a:rPr>
              <a:t>Campaigns</a:t>
            </a:r>
          </a:p>
        </p:txBody>
      </p:sp>
      <p:sp>
        <p:nvSpPr>
          <p:cNvPr id="12" name="text-60">
            <a:extLst xmlns:a="http://schemas.openxmlformats.org/drawingml/2006/main">
              <a:ext uri="{FF2B5EF4-FFF2-40B4-BE49-F238E27FC236}">
                <a16:creationId xmlns:a16="http://schemas.microsoft.com/office/drawing/2014/main" id="{81F46F49-93AF-48A3-BE89-22829A3850C8}"/>
              </a:ext>
            </a:extLst>
          </p:cNvPr>
          <p:cNvSpPr>
            <a:spLocks xmlns:a="http://schemas.openxmlformats.org/drawingml/2006/main" noGrp="1"/>
          </p:cNvSpPr>
          <p:nvPr/>
        </p:nvSpPr>
        <p:spPr>
          <a:xfrm xmlns:a="http://schemas.openxmlformats.org/drawingml/2006/main">
            <a:off x="7334250" y="3305175"/>
            <a:ext cx="2076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CBD5CA"/>
                </a:solidFill>
                <a:latin typeface="Arial"/>
                <a:ea typeface="Arial"/>
                <a:cs typeface="Arial"/>
              </a:defRPr>
            </a:pPr>
            <a:r>
              <a:rPr sz="1725" b="0" i="0">
                <a:solidFill>
                  <a:srgbClr val="CBD5CA"/>
                </a:solidFill>
                <a:latin typeface="Arial"/>
                <a:ea typeface="Arial"/>
                <a:cs typeface="Arial"/>
              </a:rPr>
              <a:t>One view of</a:t>
            </a:r>
          </a:p>
          <a:p xmlns:a="http://schemas.openxmlformats.org/drawingml/2006/main">
            <a:pPr>
              <a:defRPr sz="1725" b="0" i="0">
                <a:solidFill>
                  <a:srgbClr val="CBD5CA"/>
                </a:solidFill>
                <a:latin typeface="Arial"/>
                <a:ea typeface="Arial"/>
                <a:cs typeface="Arial"/>
              </a:defRPr>
            </a:pPr>
            <a:r>
              <a:rPr sz="1725" b="0" i="0">
                <a:solidFill>
                  <a:srgbClr val="CBD5CA"/>
                </a:solidFill>
                <a:latin typeface="Arial"/>
                <a:ea typeface="Arial"/>
                <a:cs typeface="Arial"/>
              </a:rPr>
              <a:t>campaign results</a:t>
            </a:r>
          </a:p>
        </p:txBody>
      </p:sp>
      <p:sp>
        <p:nvSpPr>
          <p:cNvPr id="13" name="text-61">
            <a:extLst xmlns:a="http://schemas.openxmlformats.org/drawingml/2006/main">
              <a:ext uri="{FF2B5EF4-FFF2-40B4-BE49-F238E27FC236}">
                <a16:creationId xmlns:a16="http://schemas.microsoft.com/office/drawing/2014/main" id="{9038BD1E-1B81-4C07-BFD8-6A1265C019AA}"/>
              </a:ext>
            </a:extLst>
          </p:cNvPr>
          <p:cNvSpPr>
            <a:spLocks xmlns:a="http://schemas.openxmlformats.org/drawingml/2006/main" noGrp="1"/>
          </p:cNvSpPr>
          <p:nvPr/>
        </p:nvSpPr>
        <p:spPr>
          <a:xfrm xmlns:a="http://schemas.openxmlformats.org/drawingml/2006/main">
            <a:off x="9601200" y="2571750"/>
            <a:ext cx="213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i="0">
                <a:solidFill>
                  <a:srgbClr val="F7F3E8"/>
                </a:solidFill>
                <a:latin typeface="Georgia"/>
                <a:ea typeface="Georgia"/>
                <a:cs typeface="Georgia"/>
              </a:defRPr>
            </a:pPr>
            <a:r>
              <a:rPr sz="2550" b="0" i="0">
                <a:solidFill>
                  <a:srgbClr val="F7F3E8"/>
                </a:solidFill>
                <a:latin typeface="Georgia"/>
                <a:ea typeface="Georgia"/>
                <a:cs typeface="Georgia"/>
              </a:rPr>
              <a:t>Budgets</a:t>
            </a:r>
          </a:p>
        </p:txBody>
      </p:sp>
      <p:sp>
        <p:nvSpPr>
          <p:cNvPr id="14" name="text-62">
            <a:extLst xmlns:a="http://schemas.openxmlformats.org/drawingml/2006/main">
              <a:ext uri="{FF2B5EF4-FFF2-40B4-BE49-F238E27FC236}">
                <a16:creationId xmlns:a16="http://schemas.microsoft.com/office/drawing/2014/main" id="{C7499251-5C0F-44C5-A5BC-E88A1514821C}"/>
              </a:ext>
            </a:extLst>
          </p:cNvPr>
          <p:cNvSpPr>
            <a:spLocks xmlns:a="http://schemas.openxmlformats.org/drawingml/2006/main" noGrp="1"/>
          </p:cNvSpPr>
          <p:nvPr/>
        </p:nvSpPr>
        <p:spPr>
          <a:xfrm xmlns:a="http://schemas.openxmlformats.org/drawingml/2006/main">
            <a:off x="9601200" y="3305175"/>
            <a:ext cx="2076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i="0">
                <a:solidFill>
                  <a:srgbClr val="CBD5CA"/>
                </a:solidFill>
                <a:latin typeface="Arial"/>
                <a:ea typeface="Arial"/>
                <a:cs typeface="Arial"/>
              </a:defRPr>
            </a:pPr>
            <a:r>
              <a:rPr sz="1725" b="0" i="0">
                <a:solidFill>
                  <a:srgbClr val="CBD5CA"/>
                </a:solidFill>
                <a:latin typeface="Arial"/>
                <a:ea typeface="Arial"/>
                <a:cs typeface="Arial"/>
              </a:rPr>
              <a:t>A proposed action</a:t>
            </a:r>
          </a:p>
          <a:p xmlns:a="http://schemas.openxmlformats.org/drawingml/2006/main">
            <a:pPr>
              <a:defRPr sz="1725" b="0" i="0">
                <a:solidFill>
                  <a:srgbClr val="CBD5CA"/>
                </a:solidFill>
                <a:latin typeface="Arial"/>
                <a:ea typeface="Arial"/>
                <a:cs typeface="Arial"/>
              </a:defRPr>
            </a:pPr>
            <a:r>
              <a:rPr sz="1725" b="0" i="0">
                <a:solidFill>
                  <a:srgbClr val="CBD5CA"/>
                </a:solidFill>
                <a:latin typeface="Arial"/>
                <a:ea typeface="Arial"/>
                <a:cs typeface="Arial"/>
              </a:rPr>
              <a:t>within your limits</a:t>
            </a:r>
          </a:p>
        </p:txBody>
      </p:sp>
      <p:sp>
        <p:nvSpPr>
          <p:cNvPr id="15" name="text-63">
            <a:extLst xmlns:a="http://schemas.openxmlformats.org/drawingml/2006/main">
              <a:ext uri="{FF2B5EF4-FFF2-40B4-BE49-F238E27FC236}">
                <a16:creationId xmlns:a16="http://schemas.microsoft.com/office/drawing/2014/main" id="{0B86DC69-D5CE-42F5-A430-720767D31316}"/>
              </a:ext>
            </a:extLst>
          </p:cNvPr>
          <p:cNvSpPr>
            <a:spLocks xmlns:a="http://schemas.openxmlformats.org/drawingml/2006/main" noGrp="1"/>
          </p:cNvSpPr>
          <p:nvPr/>
        </p:nvSpPr>
        <p:spPr>
          <a:xfrm xmlns:a="http://schemas.openxmlformats.org/drawingml/2006/main">
            <a:off x="533400" y="5029200"/>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i="0">
                <a:solidFill>
                  <a:srgbClr val="F7F3E8"/>
                </a:solidFill>
                <a:latin typeface="Georgia"/>
                <a:ea typeface="Georgia"/>
                <a:cs typeface="Georgia"/>
              </a:defRPr>
            </a:pPr>
            <a:r>
              <a:rPr sz="3000" b="0" i="0">
                <a:solidFill>
                  <a:srgbClr val="F7F3E8"/>
                </a:solidFill>
                <a:latin typeface="Georgia"/>
                <a:ea typeface="Georgia"/>
                <a:cs typeface="Georgia"/>
              </a:rPr>
              <a:t>You review the work.</a:t>
            </a:r>
          </a:p>
          <a:p xmlns:a="http://schemas.openxmlformats.org/drawingml/2006/main">
            <a:pPr>
              <a:defRPr sz="3000" b="0" i="0">
                <a:solidFill>
                  <a:srgbClr val="F7F3E8"/>
                </a:solidFill>
                <a:latin typeface="Georgia"/>
                <a:ea typeface="Georgia"/>
                <a:cs typeface="Georgia"/>
              </a:defRPr>
            </a:pPr>
            <a:r>
              <a:rPr sz="3000" b="0" i="0">
                <a:solidFill>
                  <a:srgbClr val="F7F3E8"/>
                </a:solidFill>
                <a:latin typeface="Georgia"/>
                <a:ea typeface="Georgia"/>
                <a:cs typeface="Georgia"/>
              </a:rPr>
              <a:t>You authorize the action.</a:t>
            </a:r>
          </a:p>
        </p:txBody>
      </p:sp>
    </p:spTree>
    <p:extLst>
      <p:ext uri="{BB962C8B-B14F-4D97-AF65-F5344CB8AC3E}">
        <p14:creationId xmlns:p14="http://schemas.microsoft.com/office/powerpoint/2010/main" val="150846491"/>
      </p:ext>
    </p:extLst>
  </p:cSld>
</p:sld>
</file>

<file path=ppt/slides/slide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1" name="text-64">
            <a:extLst xmlns:a="http://schemas.openxmlformats.org/drawingml/2006/main">
              <a:ext uri="{FF2B5EF4-FFF2-40B4-BE49-F238E27FC236}">
                <a16:creationId xmlns:a16="http://schemas.microsoft.com/office/drawing/2014/main" id="{F8A4948D-C1BF-4362-95E5-EF44F25C00D3}"/>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263E35"/>
                </a:solidFill>
                <a:latin typeface="Arial"/>
                <a:ea typeface="Arial"/>
                <a:cs typeface="Arial"/>
              </a:defRPr>
            </a:pPr>
            <a:r>
              <a:rPr sz="1350" b="1" i="0">
                <a:solidFill>
                  <a:srgbClr val="263E35"/>
                </a:solidFill>
                <a:latin typeface="Arial"/>
                <a:ea typeface="Arial"/>
                <a:cs typeface="Arial"/>
              </a:rPr>
              <a:t>RunMyStore</a:t>
            </a:r>
          </a:p>
        </p:txBody>
      </p:sp>
      <p:sp>
        <p:nvSpPr>
          <p:cNvPr id="2" name="text-65">
            <a:extLst xmlns:a="http://schemas.openxmlformats.org/drawingml/2006/main">
              <a:ext uri="{FF2B5EF4-FFF2-40B4-BE49-F238E27FC236}">
                <a16:creationId xmlns:a16="http://schemas.microsoft.com/office/drawing/2014/main" id="{5EA41455-BE87-4B42-9FBF-DE689947EE55}"/>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657269"/>
                </a:solidFill>
                <a:latin typeface="Arial"/>
                <a:ea typeface="Arial"/>
                <a:cs typeface="Arial"/>
              </a:defRPr>
            </a:pPr>
            <a:r>
              <a:rPr sz="1200" b="0" i="0">
                <a:solidFill>
                  <a:srgbClr val="657269"/>
                </a:solidFill>
                <a:latin typeface="Arial"/>
                <a:ea typeface="Arial"/>
                <a:cs typeface="Arial"/>
              </a:rPr>
              <a:t>CATALOG + WEBSITE</a:t>
            </a:r>
          </a:p>
        </p:txBody>
      </p:sp>
      <p:sp>
        <p:nvSpPr>
          <p:cNvPr id="3" name="text-66">
            <a:extLst xmlns:a="http://schemas.openxmlformats.org/drawingml/2006/main">
              <a:ext uri="{FF2B5EF4-FFF2-40B4-BE49-F238E27FC236}">
                <a16:creationId xmlns:a16="http://schemas.microsoft.com/office/drawing/2014/main" id="{E534299D-27AA-49B9-A2C3-8F7742B324CA}"/>
              </a:ext>
            </a:extLst>
          </p:cNvPr>
          <p:cNvSpPr>
            <a:spLocks xmlns:a="http://schemas.openxmlformats.org/drawingml/2006/main" noGrp="1"/>
          </p:cNvSpPr>
          <p:nvPr/>
        </p:nvSpPr>
        <p:spPr>
          <a:xfrm xmlns:a="http://schemas.openxmlformats.org/drawingml/2006/main">
            <a:off x="533400" y="933450"/>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i="0">
                <a:solidFill>
                  <a:srgbClr val="263E35"/>
                </a:solidFill>
                <a:latin typeface="Georgia"/>
                <a:ea typeface="Georgia"/>
                <a:cs typeface="Georgia"/>
              </a:defRPr>
            </a:pPr>
            <a:r>
              <a:rPr sz="3750" b="0" i="0">
                <a:solidFill>
                  <a:srgbClr val="263E35"/>
                </a:solidFill>
                <a:latin typeface="Georgia"/>
                <a:ea typeface="Georgia"/>
                <a:cs typeface="Georgia"/>
              </a:rPr>
              <a:t>A product becomes a storefront</a:t>
            </a:r>
          </a:p>
        </p:txBody>
      </p:sp>
      <p:sp>
        <p:nvSpPr>
          <p:cNvPr id="4" name="text-67">
            <a:extLst xmlns:a="http://schemas.openxmlformats.org/drawingml/2006/main">
              <a:ext uri="{FF2B5EF4-FFF2-40B4-BE49-F238E27FC236}">
                <a16:creationId xmlns:a16="http://schemas.microsoft.com/office/drawing/2014/main" id="{5BD6C34F-C04E-4404-9CCA-741562BEBCF5}"/>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657269"/>
                </a:solidFill>
                <a:latin typeface="Arial"/>
                <a:ea typeface="Arial"/>
                <a:cs typeface="Arial"/>
              </a:defRPr>
            </a:pPr>
            <a:r>
              <a:rPr sz="1125" b="0" i="0">
                <a:solidFill>
                  <a:srgbClr val="657269"/>
                </a:solidFill>
                <a:latin typeface="Arial"/>
                <a:ea typeface="Arial"/>
                <a:cs typeface="Arial"/>
              </a:rPr>
              <a:t>06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4732eb9ecdb4b86"/>
          <a:srcRect xmlns:a="http://schemas.openxmlformats.org/drawingml/2006/main" l="0" t="13174" r="0" b="13174"/>
          <a:stretch xmlns:a="http://schemas.openxmlformats.org/drawingml/2006/main">
            <a:fillRect l="0" t="0" r="0" b="0"/>
          </a:stretch>
        </p:blipFill>
        <p:spPr>
          <a:xfrm xmlns:a="http://schemas.openxmlformats.org/drawingml/2006/main">
            <a:off x="533400" y="2352675"/>
            <a:ext cx="3181350" cy="3514725"/>
          </a:xfrm>
          <a:prstGeom xmlns:a="http://schemas.openxmlformats.org/drawingml/2006/main" prst="rect">
            <a:avLst/>
          </a:prstGeom>
        </p:spPr>
      </p:pic>
      <p:sp>
        <p:nvSpPr>
          <p:cNvPr id="6" name="text-68">
            <a:extLst xmlns:a="http://schemas.openxmlformats.org/drawingml/2006/main">
              <a:ext uri="{FF2B5EF4-FFF2-40B4-BE49-F238E27FC236}">
                <a16:creationId xmlns:a16="http://schemas.microsoft.com/office/drawing/2014/main" id="{E93D72ED-22D5-42C3-A08E-D03EF6381C92}"/>
              </a:ext>
            </a:extLst>
          </p:cNvPr>
          <p:cNvSpPr>
            <a:spLocks xmlns:a="http://schemas.openxmlformats.org/drawingml/2006/main" noGrp="1"/>
          </p:cNvSpPr>
          <p:nvPr/>
        </p:nvSpPr>
        <p:spPr>
          <a:xfrm xmlns:a="http://schemas.openxmlformats.org/drawingml/2006/main">
            <a:off x="4324350" y="2371725"/>
            <a:ext cx="6610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i="0">
                <a:solidFill>
                  <a:srgbClr val="263E35"/>
                </a:solidFill>
                <a:latin typeface="Georgia"/>
                <a:ea typeface="Georgia"/>
                <a:cs typeface="Georgia"/>
              </a:defRPr>
            </a:pPr>
            <a:r>
              <a:rPr sz="2550" b="0" i="0">
                <a:solidFill>
                  <a:srgbClr val="263E35"/>
                </a:solidFill>
                <a:latin typeface="Georgia"/>
                <a:ea typeface="Georgia"/>
                <a:cs typeface="Georgia"/>
              </a:rPr>
              <a:t>Catalog Studio</a:t>
            </a:r>
          </a:p>
        </p:txBody>
      </p:sp>
      <p:sp>
        <p:nvSpPr>
          <p:cNvPr id="7" name="text-69">
            <a:extLst xmlns:a="http://schemas.openxmlformats.org/drawingml/2006/main">
              <a:ext uri="{FF2B5EF4-FFF2-40B4-BE49-F238E27FC236}">
                <a16:creationId xmlns:a16="http://schemas.microsoft.com/office/drawing/2014/main" id="{00D2086E-0494-459C-91DF-84CD125B1482}"/>
              </a:ext>
            </a:extLst>
          </p:cNvPr>
          <p:cNvSpPr>
            <a:spLocks xmlns:a="http://schemas.openxmlformats.org/drawingml/2006/main" noGrp="1"/>
          </p:cNvSpPr>
          <p:nvPr/>
        </p:nvSpPr>
        <p:spPr>
          <a:xfrm xmlns:a="http://schemas.openxmlformats.org/drawingml/2006/main">
            <a:off x="4324350" y="3028950"/>
            <a:ext cx="67722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i="0">
                <a:solidFill>
                  <a:srgbClr val="263E35"/>
                </a:solidFill>
                <a:latin typeface="Arial"/>
                <a:ea typeface="Arial"/>
                <a:cs typeface="Arial"/>
              </a:defRPr>
            </a:pPr>
            <a:r>
              <a:rPr sz="2100" b="0" i="0">
                <a:solidFill>
                  <a:srgbClr val="263E35"/>
                </a:solidFill>
                <a:latin typeface="Arial"/>
                <a:ea typeface="Arial"/>
                <a:cs typeface="Arial"/>
              </a:rPr>
              <a:t>Supply product facts. Prepare a listing.</a:t>
            </a:r>
          </a:p>
          <a:p xmlns:a="http://schemas.openxmlformats.org/drawingml/2006/main">
            <a:pPr>
              <a:defRPr sz="2100" b="0" i="0">
                <a:solidFill>
                  <a:srgbClr val="263E35"/>
                </a:solidFill>
                <a:latin typeface="Arial"/>
                <a:ea typeface="Arial"/>
                <a:cs typeface="Arial"/>
              </a:defRPr>
            </a:pPr>
            <a:r>
              <a:rPr sz="2100" b="0" i="0">
                <a:solidFill>
                  <a:srgbClr val="263E35"/>
                </a:solidFill>
                <a:latin typeface="Arial"/>
                <a:ea typeface="Arial"/>
                <a:cs typeface="Arial"/>
              </a:rPr>
              <a:t>Review claims before publishing.</a:t>
            </a:r>
          </a:p>
        </p:txBody>
      </p:sp>
      <p:sp>
        <p:nvSpPr>
          <p:cNvPr id="8" name="text-70">
            <a:extLst xmlns:a="http://schemas.openxmlformats.org/drawingml/2006/main">
              <a:ext uri="{FF2B5EF4-FFF2-40B4-BE49-F238E27FC236}">
                <a16:creationId xmlns:a16="http://schemas.microsoft.com/office/drawing/2014/main" id="{3CF07C80-2EDC-4D27-B6AC-0E9E3E557AE2}"/>
              </a:ext>
            </a:extLst>
          </p:cNvPr>
          <p:cNvSpPr>
            <a:spLocks xmlns:a="http://schemas.openxmlformats.org/drawingml/2006/main" noGrp="1"/>
          </p:cNvSpPr>
          <p:nvPr/>
        </p:nvSpPr>
        <p:spPr>
          <a:xfrm xmlns:a="http://schemas.openxmlformats.org/drawingml/2006/main">
            <a:off x="4324350" y="42481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i="0">
                <a:solidFill>
                  <a:srgbClr val="263E35"/>
                </a:solidFill>
                <a:latin typeface="Georgia"/>
                <a:ea typeface="Georgia"/>
                <a:cs typeface="Georgia"/>
              </a:defRPr>
            </a:pPr>
            <a:r>
              <a:rPr sz="2550" b="0" i="0">
                <a:solidFill>
                  <a:srgbClr val="263E35"/>
                </a:solidFill>
                <a:latin typeface="Georgia"/>
                <a:ea typeface="Georgia"/>
                <a:cs typeface="Georgia"/>
              </a:rPr>
              <a:t>Website Builder</a:t>
            </a:r>
          </a:p>
        </p:txBody>
      </p:sp>
      <p:sp>
        <p:nvSpPr>
          <p:cNvPr id="9" name="text-71">
            <a:extLst xmlns:a="http://schemas.openxmlformats.org/drawingml/2006/main">
              <a:ext uri="{FF2B5EF4-FFF2-40B4-BE49-F238E27FC236}">
                <a16:creationId xmlns:a16="http://schemas.microsoft.com/office/drawing/2014/main" id="{30B54046-EEA2-4C9A-8A17-4178E31039DC}"/>
              </a:ext>
            </a:extLst>
          </p:cNvPr>
          <p:cNvSpPr>
            <a:spLocks xmlns:a="http://schemas.openxmlformats.org/drawingml/2006/main" noGrp="1"/>
          </p:cNvSpPr>
          <p:nvPr/>
        </p:nvSpPr>
        <p:spPr>
          <a:xfrm xmlns:a="http://schemas.openxmlformats.org/drawingml/2006/main">
            <a:off x="4324350" y="4905375"/>
            <a:ext cx="67722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i="0">
                <a:solidFill>
                  <a:srgbClr val="263E35"/>
                </a:solidFill>
                <a:latin typeface="Arial"/>
                <a:ea typeface="Arial"/>
                <a:cs typeface="Arial"/>
              </a:defRPr>
            </a:pPr>
            <a:r>
              <a:rPr sz="2100" b="0" i="0">
                <a:solidFill>
                  <a:srgbClr val="263E35"/>
                </a:solidFill>
                <a:latin typeface="Arial"/>
                <a:ea typeface="Arial"/>
                <a:cs typeface="Arial"/>
              </a:rPr>
              <a:t>Choose sections, refine the brand and</a:t>
            </a:r>
          </a:p>
          <a:p xmlns:a="http://schemas.openxmlformats.org/drawingml/2006/main">
            <a:pPr>
              <a:defRPr sz="2100" b="0" i="0">
                <a:solidFill>
                  <a:srgbClr val="263E35"/>
                </a:solidFill>
                <a:latin typeface="Arial"/>
                <a:ea typeface="Arial"/>
                <a:cs typeface="Arial"/>
              </a:defRPr>
            </a:pPr>
            <a:r>
              <a:rPr sz="2100" b="0" i="0">
                <a:solidFill>
                  <a:srgbClr val="263E35"/>
                </a:solidFill>
                <a:latin typeface="Arial"/>
                <a:ea typeface="Arial"/>
                <a:cs typeface="Arial"/>
              </a:rPr>
              <a:t>preview the same catalog on mobile.</a:t>
            </a:r>
          </a:p>
        </p:txBody>
      </p:sp>
      <p:sp>
        <p:nvSpPr>
          <p:cNvPr id="10" name="text-72">
            <a:extLst xmlns:a="http://schemas.openxmlformats.org/drawingml/2006/main">
              <a:ext uri="{FF2B5EF4-FFF2-40B4-BE49-F238E27FC236}">
                <a16:creationId xmlns:a16="http://schemas.microsoft.com/office/drawing/2014/main" id="{6021ED15-5E30-4246-B598-DAF5468CBC8D}"/>
              </a:ext>
            </a:extLst>
          </p:cNvPr>
          <p:cNvSpPr>
            <a:spLocks xmlns:a="http://schemas.openxmlformats.org/drawingml/2006/main" noGrp="1"/>
          </p:cNvSpPr>
          <p:nvPr/>
        </p:nvSpPr>
        <p:spPr>
          <a:xfrm xmlns:a="http://schemas.openxmlformats.org/drawingml/2006/main">
            <a:off x="533400" y="62769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i="0">
                <a:solidFill>
                  <a:srgbClr val="657269"/>
                </a:solidFill>
                <a:latin typeface="Arial"/>
                <a:ea typeface="Arial"/>
                <a:cs typeface="Arial"/>
              </a:defRPr>
            </a:pPr>
            <a:r>
              <a:rPr sz="975" b="0" i="0">
                <a:solidFill>
                  <a:srgbClr val="657269"/>
                </a:solidFill>
                <a:latin typeface="Arial"/>
                <a:ea typeface="Arial"/>
                <a:cs typeface="Arial"/>
              </a:rPr>
              <a:t>Working UI flow with prepared outputs. Publishing creates a local demo snapshot.</a:t>
            </a:r>
          </a:p>
        </p:txBody>
      </p:sp>
    </p:spTree>
    <p:extLst>
      <p:ext uri="{BB962C8B-B14F-4D97-AF65-F5344CB8AC3E}">
        <p14:creationId xmlns:p14="http://schemas.microsoft.com/office/powerpoint/2010/main" val="1878439952"/>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1" name="text-73">
            <a:extLst xmlns:a="http://schemas.openxmlformats.org/drawingml/2006/main">
              <a:ext uri="{FF2B5EF4-FFF2-40B4-BE49-F238E27FC236}">
                <a16:creationId xmlns:a16="http://schemas.microsoft.com/office/drawing/2014/main" id="{4AD03618-DFEE-44FC-8135-F65D8452A6C8}"/>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263E35"/>
                </a:solidFill>
                <a:latin typeface="Arial"/>
                <a:ea typeface="Arial"/>
                <a:cs typeface="Arial"/>
              </a:defRPr>
            </a:pPr>
            <a:r>
              <a:rPr sz="1350" b="1" i="0">
                <a:solidFill>
                  <a:srgbClr val="263E35"/>
                </a:solidFill>
                <a:latin typeface="Arial"/>
                <a:ea typeface="Arial"/>
                <a:cs typeface="Arial"/>
              </a:rPr>
              <a:t>RunMyStore</a:t>
            </a:r>
          </a:p>
        </p:txBody>
      </p:sp>
      <p:sp>
        <p:nvSpPr>
          <p:cNvPr id="2" name="text-74">
            <a:extLst xmlns:a="http://schemas.openxmlformats.org/drawingml/2006/main">
              <a:ext uri="{FF2B5EF4-FFF2-40B4-BE49-F238E27FC236}">
                <a16:creationId xmlns:a16="http://schemas.microsoft.com/office/drawing/2014/main" id="{FC970E5C-EF4E-42EC-9B5A-5CA67435F8D7}"/>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657269"/>
                </a:solidFill>
                <a:latin typeface="Arial"/>
                <a:ea typeface="Arial"/>
                <a:cs typeface="Arial"/>
              </a:defRPr>
            </a:pPr>
            <a:r>
              <a:rPr sz="1200" b="0" i="0">
                <a:solidFill>
                  <a:srgbClr val="657269"/>
                </a:solidFill>
                <a:latin typeface="Arial"/>
                <a:ea typeface="Arial"/>
                <a:cs typeface="Arial"/>
              </a:rPr>
              <a:t>ADS + CAMPAIGNS</a:t>
            </a:r>
          </a:p>
        </p:txBody>
      </p:sp>
      <p:sp>
        <p:nvSpPr>
          <p:cNvPr id="3" name="text-75">
            <a:extLst xmlns:a="http://schemas.openxmlformats.org/drawingml/2006/main">
              <a:ext uri="{FF2B5EF4-FFF2-40B4-BE49-F238E27FC236}">
                <a16:creationId xmlns:a16="http://schemas.microsoft.com/office/drawing/2014/main" id="{DA852619-11C7-4597-9D9B-F406FB1D04F0}"/>
              </a:ext>
            </a:extLst>
          </p:cNvPr>
          <p:cNvSpPr>
            <a:spLocks xmlns:a="http://schemas.openxmlformats.org/drawingml/2006/main" noGrp="1"/>
          </p:cNvSpPr>
          <p:nvPr/>
        </p:nvSpPr>
        <p:spPr>
          <a:xfrm xmlns:a="http://schemas.openxmlformats.org/drawingml/2006/main">
            <a:off x="533400" y="933450"/>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i="0">
                <a:solidFill>
                  <a:srgbClr val="263E35"/>
                </a:solidFill>
                <a:latin typeface="Georgia"/>
                <a:ea typeface="Georgia"/>
                <a:cs typeface="Georgia"/>
              </a:defRPr>
            </a:pPr>
            <a:r>
              <a:rPr sz="3750" b="0" i="0">
                <a:solidFill>
                  <a:srgbClr val="263E35"/>
                </a:solidFill>
                <a:latin typeface="Georgia"/>
                <a:ea typeface="Georgia"/>
                <a:cs typeface="Georgia"/>
              </a:rPr>
              <a:t>Creative and campaign results stay connected</a:t>
            </a:r>
          </a:p>
        </p:txBody>
      </p:sp>
      <p:sp>
        <p:nvSpPr>
          <p:cNvPr id="4" name="text-76">
            <a:extLst xmlns:a="http://schemas.openxmlformats.org/drawingml/2006/main">
              <a:ext uri="{FF2B5EF4-FFF2-40B4-BE49-F238E27FC236}">
                <a16:creationId xmlns:a16="http://schemas.microsoft.com/office/drawing/2014/main" id="{426FDDF0-E2D8-4AA6-8D66-B1B9184AB289}"/>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657269"/>
                </a:solidFill>
                <a:latin typeface="Arial"/>
                <a:ea typeface="Arial"/>
                <a:cs typeface="Arial"/>
              </a:defRPr>
            </a:pPr>
            <a:r>
              <a:rPr sz="1125" b="0" i="0">
                <a:solidFill>
                  <a:srgbClr val="657269"/>
                </a:solidFill>
                <a:latin typeface="Arial"/>
                <a:ea typeface="Arial"/>
                <a:cs typeface="Arial"/>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2046d10d4fb4a20"/>
          <a:srcRect xmlns:a="http://schemas.openxmlformats.org/drawingml/2006/main" l="0" t="19095" r="0" b="19095"/>
          <a:stretch xmlns:a="http://schemas.openxmlformats.org/drawingml/2006/main">
            <a:fillRect l="0" t="0" r="0" b="0"/>
          </a:stretch>
        </p:blipFill>
        <p:spPr>
          <a:xfrm xmlns:a="http://schemas.openxmlformats.org/drawingml/2006/main">
            <a:off x="7867650" y="2352675"/>
            <a:ext cx="3790950" cy="3514725"/>
          </a:xfrm>
          <a:prstGeom xmlns:a="http://schemas.openxmlformats.org/drawingml/2006/main" prst="rect">
            <a:avLst/>
          </a:prstGeom>
        </p:spPr>
      </p:pic>
      <p:sp>
        <p:nvSpPr>
          <p:cNvPr id="6" name="text-77">
            <a:extLst xmlns:a="http://schemas.openxmlformats.org/drawingml/2006/main">
              <a:ext uri="{FF2B5EF4-FFF2-40B4-BE49-F238E27FC236}">
                <a16:creationId xmlns:a16="http://schemas.microsoft.com/office/drawing/2014/main" id="{776A0390-829B-44FC-A325-C308F85F9934}"/>
              </a:ext>
            </a:extLst>
          </p:cNvPr>
          <p:cNvSpPr>
            <a:spLocks xmlns:a="http://schemas.openxmlformats.org/drawingml/2006/main" noGrp="1"/>
          </p:cNvSpPr>
          <p:nvPr/>
        </p:nvSpPr>
        <p:spPr>
          <a:xfrm xmlns:a="http://schemas.openxmlformats.org/drawingml/2006/main">
            <a:off x="533400" y="24003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i="0">
                <a:solidFill>
                  <a:srgbClr val="263E35"/>
                </a:solidFill>
                <a:latin typeface="Arial"/>
                <a:ea typeface="Arial"/>
                <a:cs typeface="Arial"/>
              </a:defRPr>
            </a:pPr>
            <a:r>
              <a:rPr sz="2175" b="1" i="0">
                <a:solidFill>
                  <a:srgbClr val="263E35"/>
                </a:solidFill>
                <a:latin typeface="Arial"/>
                <a:ea typeface="Arial"/>
                <a:cs typeface="Arial"/>
              </a:rPr>
              <a:t>Ad generation</a:t>
            </a:r>
          </a:p>
        </p:txBody>
      </p:sp>
      <p:sp>
        <p:nvSpPr>
          <p:cNvPr id="7" name="text-78">
            <a:extLst xmlns:a="http://schemas.openxmlformats.org/drawingml/2006/main">
              <a:ext uri="{FF2B5EF4-FFF2-40B4-BE49-F238E27FC236}">
                <a16:creationId xmlns:a16="http://schemas.microsoft.com/office/drawing/2014/main" id="{B426F113-007D-454F-8051-3B54B497E55B}"/>
              </a:ext>
            </a:extLst>
          </p:cNvPr>
          <p:cNvSpPr>
            <a:spLocks xmlns:a="http://schemas.openxmlformats.org/drawingml/2006/main" noGrp="1"/>
          </p:cNvSpPr>
          <p:nvPr/>
        </p:nvSpPr>
        <p:spPr>
          <a:xfrm xmlns:a="http://schemas.openxmlformats.org/drawingml/2006/main">
            <a:off x="533400" y="2867025"/>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i="0">
                <a:solidFill>
                  <a:srgbClr val="657269"/>
                </a:solidFill>
                <a:latin typeface="Arial"/>
                <a:ea typeface="Arial"/>
                <a:cs typeface="Arial"/>
              </a:defRPr>
            </a:pPr>
            <a:r>
              <a:rPr sz="1800" b="0" i="0">
                <a:solidFill>
                  <a:srgbClr val="657269"/>
                </a:solidFill>
                <a:latin typeface="Arial"/>
                <a:ea typeface="Arial"/>
                <a:cs typeface="Arial"/>
              </a:rPr>
              <a:t>Prepare channel-specific creative using the approved product and brand.</a:t>
            </a:r>
          </a:p>
        </p:txBody>
      </p:sp>
      <p:sp>
        <p:nvSpPr>
          <p:cNvPr id="8" name="text-79">
            <a:extLst xmlns:a="http://schemas.openxmlformats.org/drawingml/2006/main">
              <a:ext uri="{FF2B5EF4-FFF2-40B4-BE49-F238E27FC236}">
                <a16:creationId xmlns:a16="http://schemas.microsoft.com/office/drawing/2014/main" id="{5DEBF9FA-8FF5-440A-AE16-8B65D3051627}"/>
              </a:ext>
            </a:extLst>
          </p:cNvPr>
          <p:cNvSpPr>
            <a:spLocks xmlns:a="http://schemas.openxmlformats.org/drawingml/2006/main" noGrp="1"/>
          </p:cNvSpPr>
          <p:nvPr/>
        </p:nvSpPr>
        <p:spPr>
          <a:xfrm xmlns:a="http://schemas.openxmlformats.org/drawingml/2006/main">
            <a:off x="533400" y="40290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i="0">
                <a:solidFill>
                  <a:srgbClr val="263E35"/>
                </a:solidFill>
                <a:latin typeface="Arial"/>
                <a:ea typeface="Arial"/>
                <a:cs typeface="Arial"/>
              </a:defRPr>
            </a:pPr>
            <a:r>
              <a:rPr sz="2175" b="1" i="0">
                <a:solidFill>
                  <a:srgbClr val="263E35"/>
                </a:solidFill>
                <a:latin typeface="Arial"/>
                <a:ea typeface="Arial"/>
                <a:cs typeface="Arial"/>
              </a:rPr>
              <a:t>Campaign tracking</a:t>
            </a:r>
          </a:p>
        </p:txBody>
      </p:sp>
      <p:sp>
        <p:nvSpPr>
          <p:cNvPr id="9" name="text-80">
            <a:extLst xmlns:a="http://schemas.openxmlformats.org/drawingml/2006/main">
              <a:ext uri="{FF2B5EF4-FFF2-40B4-BE49-F238E27FC236}">
                <a16:creationId xmlns:a16="http://schemas.microsoft.com/office/drawing/2014/main" id="{9946E125-BBE2-4E7F-A1D8-E48FDC1A6E9C}"/>
              </a:ext>
            </a:extLst>
          </p:cNvPr>
          <p:cNvSpPr>
            <a:spLocks xmlns:a="http://schemas.openxmlformats.org/drawingml/2006/main" noGrp="1"/>
          </p:cNvSpPr>
          <p:nvPr/>
        </p:nvSpPr>
        <p:spPr>
          <a:xfrm xmlns:a="http://schemas.openxmlformats.org/drawingml/2006/main">
            <a:off x="533400" y="449580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i="0">
                <a:solidFill>
                  <a:srgbClr val="657269"/>
                </a:solidFill>
                <a:latin typeface="Arial"/>
                <a:ea typeface="Arial"/>
                <a:cs typeface="Arial"/>
              </a:defRPr>
            </a:pPr>
            <a:r>
              <a:rPr sz="1800" b="0" i="0">
                <a:solidFill>
                  <a:srgbClr val="657269"/>
                </a:solidFill>
                <a:latin typeface="Arial"/>
                <a:ea typeface="Arial"/>
                <a:cs typeface="Arial"/>
              </a:rPr>
              <a:t>Connect each selected creative to a campaign and compare its results.</a:t>
            </a:r>
          </a:p>
        </p:txBody>
      </p:sp>
      <p:sp>
        <p:nvSpPr>
          <p:cNvPr id="10" name="text-81">
            <a:extLst xmlns:a="http://schemas.openxmlformats.org/drawingml/2006/main">
              <a:ext uri="{FF2B5EF4-FFF2-40B4-BE49-F238E27FC236}">
                <a16:creationId xmlns:a16="http://schemas.microsoft.com/office/drawing/2014/main" id="{FB2F3E25-C4B3-4936-8852-0E259B1E200B}"/>
              </a:ext>
            </a:extLst>
          </p:cNvPr>
          <p:cNvSpPr>
            <a:spLocks xmlns:a="http://schemas.openxmlformats.org/drawingml/2006/main" noGrp="1"/>
          </p:cNvSpPr>
          <p:nvPr/>
        </p:nvSpPr>
        <p:spPr>
          <a:xfrm xmlns:a="http://schemas.openxmlformats.org/drawingml/2006/main">
            <a:off x="533400" y="57626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i="0">
                <a:solidFill>
                  <a:srgbClr val="A75132"/>
                </a:solidFill>
                <a:latin typeface="Arial"/>
                <a:ea typeface="Arial"/>
                <a:cs typeface="Arial"/>
              </a:defRPr>
            </a:pPr>
            <a:r>
              <a:rPr sz="1575" b="1" i="0">
                <a:solidFill>
                  <a:srgbClr val="A75132"/>
                </a:solidFill>
                <a:latin typeface="Arial"/>
                <a:ea typeface="Arial"/>
                <a:cs typeface="Arial"/>
              </a:rPr>
              <a:t>Every number in the live demo is mock data.</a:t>
            </a:r>
          </a:p>
        </p:txBody>
      </p:sp>
    </p:spTree>
    <p:extLst>
      <p:ext uri="{BB962C8B-B14F-4D97-AF65-F5344CB8AC3E}">
        <p14:creationId xmlns:p14="http://schemas.microsoft.com/office/powerpoint/2010/main" val="753606039"/>
      </p:ext>
    </p:extLst>
  </p:cSld>
</p:sld>
</file>

<file path=ppt/slides/slide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3" name="text-82">
            <a:extLst xmlns:a="http://schemas.openxmlformats.org/drawingml/2006/main">
              <a:ext uri="{FF2B5EF4-FFF2-40B4-BE49-F238E27FC236}">
                <a16:creationId xmlns:a16="http://schemas.microsoft.com/office/drawing/2014/main" id="{C1EF03C4-2994-494C-9DB1-9A0DFD18F6DA}"/>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263E35"/>
                </a:solidFill>
                <a:latin typeface="Arial"/>
                <a:ea typeface="Arial"/>
                <a:cs typeface="Arial"/>
              </a:defRPr>
            </a:pPr>
            <a:r>
              <a:rPr sz="1350" b="1" i="0">
                <a:solidFill>
                  <a:srgbClr val="263E35"/>
                </a:solidFill>
                <a:latin typeface="Arial"/>
                <a:ea typeface="Arial"/>
                <a:cs typeface="Arial"/>
              </a:rPr>
              <a:t>RunMyStore</a:t>
            </a:r>
          </a:p>
        </p:txBody>
      </p:sp>
      <p:sp>
        <p:nvSpPr>
          <p:cNvPr id="2" name="text-83">
            <a:extLst xmlns:a="http://schemas.openxmlformats.org/drawingml/2006/main">
              <a:ext uri="{FF2B5EF4-FFF2-40B4-BE49-F238E27FC236}">
                <a16:creationId xmlns:a16="http://schemas.microsoft.com/office/drawing/2014/main" id="{58B09A0E-5A70-4342-8AD7-0C8168737BAD}"/>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657269"/>
                </a:solidFill>
                <a:latin typeface="Arial"/>
                <a:ea typeface="Arial"/>
                <a:cs typeface="Arial"/>
              </a:defRPr>
            </a:pPr>
            <a:r>
              <a:rPr sz="1200" b="0" i="0">
                <a:solidFill>
                  <a:srgbClr val="657269"/>
                </a:solidFill>
                <a:latin typeface="Arial"/>
                <a:ea typeface="Arial"/>
                <a:cs typeface="Arial"/>
              </a:rPr>
              <a:t>BUDGETS + APPROVALS</a:t>
            </a:r>
          </a:p>
        </p:txBody>
      </p:sp>
      <p:sp>
        <p:nvSpPr>
          <p:cNvPr id="3" name="text-84">
            <a:extLst xmlns:a="http://schemas.openxmlformats.org/drawingml/2006/main">
              <a:ext uri="{FF2B5EF4-FFF2-40B4-BE49-F238E27FC236}">
                <a16:creationId xmlns:a16="http://schemas.microsoft.com/office/drawing/2014/main" id="{26567879-E12E-4CA0-AD73-A2FCF57AF8D2}"/>
              </a:ext>
            </a:extLst>
          </p:cNvPr>
          <p:cNvSpPr>
            <a:spLocks xmlns:a="http://schemas.openxmlformats.org/drawingml/2006/main" noGrp="1"/>
          </p:cNvSpPr>
          <p:nvPr/>
        </p:nvSpPr>
        <p:spPr>
          <a:xfrm xmlns:a="http://schemas.openxmlformats.org/drawingml/2006/main">
            <a:off x="533400" y="933450"/>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i="0">
                <a:solidFill>
                  <a:srgbClr val="263E35"/>
                </a:solidFill>
                <a:latin typeface="Georgia"/>
                <a:ea typeface="Georgia"/>
                <a:cs typeface="Georgia"/>
              </a:defRPr>
            </a:pPr>
            <a:r>
              <a:rPr sz="3750" b="0" i="0">
                <a:solidFill>
                  <a:srgbClr val="263E35"/>
                </a:solidFill>
                <a:latin typeface="Georgia"/>
                <a:ea typeface="Georgia"/>
                <a:cs typeface="Georgia"/>
              </a:rPr>
              <a:t>The merchant controls the spend</a:t>
            </a:r>
          </a:p>
        </p:txBody>
      </p:sp>
      <p:sp>
        <p:nvSpPr>
          <p:cNvPr id="4" name="text-85">
            <a:extLst xmlns:a="http://schemas.openxmlformats.org/drawingml/2006/main">
              <a:ext uri="{FF2B5EF4-FFF2-40B4-BE49-F238E27FC236}">
                <a16:creationId xmlns:a16="http://schemas.microsoft.com/office/drawing/2014/main" id="{613812B8-0B66-475E-9FDE-3B247F95C613}"/>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657269"/>
                </a:solidFill>
                <a:latin typeface="Arial"/>
                <a:ea typeface="Arial"/>
                <a:cs typeface="Arial"/>
              </a:defRPr>
            </a:pPr>
            <a:r>
              <a:rPr sz="1125" b="0" i="0">
                <a:solidFill>
                  <a:srgbClr val="657269"/>
                </a:solidFill>
                <a:latin typeface="Arial"/>
                <a:ea typeface="Arial"/>
                <a:cs typeface="Arial"/>
              </a:rPr>
              <a:t>08</a:t>
            </a:r>
          </a:p>
        </p:txBody>
      </p:sp>
      <p:sp>
        <p:nvSpPr>
          <p:cNvPr id="5" name="text-86">
            <a:extLst xmlns:a="http://schemas.openxmlformats.org/drawingml/2006/main">
              <a:ext uri="{FF2B5EF4-FFF2-40B4-BE49-F238E27FC236}">
                <a16:creationId xmlns:a16="http://schemas.microsoft.com/office/drawing/2014/main" id="{4C028AC8-1EA8-46CE-9F56-C3BF9B319A1D}"/>
              </a:ext>
            </a:extLst>
          </p:cNvPr>
          <p:cNvSpPr>
            <a:spLocks xmlns:a="http://schemas.openxmlformats.org/drawingml/2006/main" noGrp="1"/>
          </p:cNvSpPr>
          <p:nvPr/>
        </p:nvSpPr>
        <p:spPr>
          <a:xfrm xmlns:a="http://schemas.openxmlformats.org/drawingml/2006/main">
            <a:off x="533400" y="2381250"/>
            <a:ext cx="5810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0" i="0">
                <a:solidFill>
                  <a:srgbClr val="263E35"/>
                </a:solidFill>
                <a:latin typeface="Georgia"/>
                <a:ea typeface="Georgia"/>
                <a:cs typeface="Georgia"/>
              </a:defRPr>
            </a:pPr>
            <a:r>
              <a:rPr sz="4200" b="0" i="0">
                <a:solidFill>
                  <a:srgbClr val="263E35"/>
                </a:solidFill>
                <a:latin typeface="Georgia"/>
                <a:ea typeface="Georgia"/>
                <a:cs typeface="Georgia"/>
              </a:rPr>
              <a:t>A recommendation</a:t>
            </a:r>
          </a:p>
          <a:p xmlns:a="http://schemas.openxmlformats.org/drawingml/2006/main">
            <a:pPr>
              <a:defRPr sz="4200" b="0" i="0">
                <a:solidFill>
                  <a:srgbClr val="263E35"/>
                </a:solidFill>
                <a:latin typeface="Georgia"/>
                <a:ea typeface="Georgia"/>
                <a:cs typeface="Georgia"/>
              </a:defRPr>
            </a:pPr>
            <a:r>
              <a:rPr sz="4200" b="0" i="0">
                <a:solidFill>
                  <a:srgbClr val="263E35"/>
                </a:solidFill>
                <a:latin typeface="Georgia"/>
                <a:ea typeface="Georgia"/>
                <a:cs typeface="Georgia"/>
              </a:rPr>
              <a:t>is ready for review.</a:t>
            </a:r>
          </a:p>
        </p:txBody>
      </p:sp>
      <p:sp>
        <p:nvSpPr>
          <p:cNvPr id="6" name="text-87">
            <a:extLst xmlns:a="http://schemas.openxmlformats.org/drawingml/2006/main">
              <a:ext uri="{FF2B5EF4-FFF2-40B4-BE49-F238E27FC236}">
                <a16:creationId xmlns:a16="http://schemas.microsoft.com/office/drawing/2014/main" id="{D6836D01-F533-4A1D-A82E-B00053D6C299}"/>
              </a:ext>
            </a:extLst>
          </p:cNvPr>
          <p:cNvSpPr>
            <a:spLocks xmlns:a="http://schemas.openxmlformats.org/drawingml/2006/main" noGrp="1"/>
          </p:cNvSpPr>
          <p:nvPr/>
        </p:nvSpPr>
        <p:spPr>
          <a:xfrm xmlns:a="http://schemas.openxmlformats.org/drawingml/2006/main">
            <a:off x="533400" y="5057775"/>
            <a:ext cx="61626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i="0">
                <a:solidFill>
                  <a:srgbClr val="A75132"/>
                </a:solidFill>
                <a:latin typeface="Arial"/>
                <a:ea typeface="Arial"/>
                <a:cs typeface="Arial"/>
              </a:defRPr>
            </a:pPr>
            <a:r>
              <a:rPr sz="2175" b="0" i="0">
                <a:solidFill>
                  <a:srgbClr val="A75132"/>
                </a:solidFill>
                <a:latin typeface="Arial"/>
                <a:ea typeface="Arial"/>
                <a:cs typeface="Arial"/>
              </a:rPr>
              <a:t>The owner makes the commitment.</a:t>
            </a:r>
          </a:p>
        </p:txBody>
      </p:sp>
      <p:sp>
        <p:nvSpPr>
          <p:cNvPr id="7" name="text-88">
            <a:extLst xmlns:a="http://schemas.openxmlformats.org/drawingml/2006/main">
              <a:ext uri="{FF2B5EF4-FFF2-40B4-BE49-F238E27FC236}">
                <a16:creationId xmlns:a16="http://schemas.microsoft.com/office/drawing/2014/main" id="{D35788A6-61A8-4630-98E9-1C8A25AD6951}"/>
              </a:ext>
            </a:extLst>
          </p:cNvPr>
          <p:cNvSpPr>
            <a:spLocks xmlns:a="http://schemas.openxmlformats.org/drawingml/2006/main" noGrp="1"/>
          </p:cNvSpPr>
          <p:nvPr/>
        </p:nvSpPr>
        <p:spPr>
          <a:xfrm xmlns:a="http://schemas.openxmlformats.org/drawingml/2006/main">
            <a:off x="7258050" y="2228850"/>
            <a:ext cx="426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i="0">
                <a:solidFill>
                  <a:srgbClr val="263E35"/>
                </a:solidFill>
                <a:latin typeface="Arial"/>
                <a:ea typeface="Arial"/>
                <a:cs typeface="Arial"/>
              </a:defRPr>
            </a:pPr>
            <a:r>
              <a:rPr sz="2175" b="1" i="0">
                <a:solidFill>
                  <a:srgbClr val="263E35"/>
                </a:solidFill>
                <a:latin typeface="Arial"/>
                <a:ea typeface="Arial"/>
                <a:cs typeface="Arial"/>
              </a:rPr>
              <a:t>A fixed spending cap</a:t>
            </a:r>
          </a:p>
        </p:txBody>
      </p:sp>
      <p:sp>
        <p:nvSpPr>
          <p:cNvPr id="8" name="text-89">
            <a:extLst xmlns:a="http://schemas.openxmlformats.org/drawingml/2006/main">
              <a:ext uri="{FF2B5EF4-FFF2-40B4-BE49-F238E27FC236}">
                <a16:creationId xmlns:a16="http://schemas.microsoft.com/office/drawing/2014/main" id="{234D3DCD-F5A5-4564-A2FA-771638920F41}"/>
              </a:ext>
            </a:extLst>
          </p:cNvPr>
          <p:cNvSpPr>
            <a:spLocks xmlns:a="http://schemas.openxmlformats.org/drawingml/2006/main" noGrp="1"/>
          </p:cNvSpPr>
          <p:nvPr/>
        </p:nvSpPr>
        <p:spPr>
          <a:xfrm xmlns:a="http://schemas.openxmlformats.org/drawingml/2006/main">
            <a:off x="7258050" y="269557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i="0">
                <a:solidFill>
                  <a:srgbClr val="657269"/>
                </a:solidFill>
                <a:latin typeface="Arial"/>
                <a:ea typeface="Arial"/>
                <a:cs typeface="Arial"/>
              </a:defRPr>
            </a:pPr>
            <a:r>
              <a:rPr sz="1800" b="0" i="0">
                <a:solidFill>
                  <a:srgbClr val="657269"/>
                </a:solidFill>
                <a:latin typeface="Arial"/>
                <a:ea typeface="Arial"/>
                <a:cs typeface="Arial"/>
              </a:rPr>
              <a:t>The proposed allocation must stay within the merchant’s limit.</a:t>
            </a:r>
          </a:p>
        </p:txBody>
      </p:sp>
      <p:sp>
        <p:nvSpPr>
          <p:cNvPr id="9" name="text-90">
            <a:extLst xmlns:a="http://schemas.openxmlformats.org/drawingml/2006/main">
              <a:ext uri="{FF2B5EF4-FFF2-40B4-BE49-F238E27FC236}">
                <a16:creationId xmlns:a16="http://schemas.microsoft.com/office/drawing/2014/main" id="{05D1A158-94F5-4907-A254-C634953E21AC}"/>
              </a:ext>
            </a:extLst>
          </p:cNvPr>
          <p:cNvSpPr>
            <a:spLocks xmlns:a="http://schemas.openxmlformats.org/drawingml/2006/main" noGrp="1"/>
          </p:cNvSpPr>
          <p:nvPr/>
        </p:nvSpPr>
        <p:spPr>
          <a:xfrm xmlns:a="http://schemas.openxmlformats.org/drawingml/2006/main">
            <a:off x="7258050" y="3714750"/>
            <a:ext cx="426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i="0">
                <a:solidFill>
                  <a:srgbClr val="263E35"/>
                </a:solidFill>
                <a:latin typeface="Arial"/>
                <a:ea typeface="Arial"/>
                <a:cs typeface="Arial"/>
              </a:defRPr>
            </a:pPr>
            <a:r>
              <a:rPr sz="2175" b="1" i="0">
                <a:solidFill>
                  <a:srgbClr val="263E35"/>
                </a:solidFill>
                <a:latin typeface="Arial"/>
                <a:ea typeface="Arial"/>
                <a:cs typeface="Arial"/>
              </a:rPr>
              <a:t>A reason for the change</a:t>
            </a:r>
          </a:p>
        </p:txBody>
      </p:sp>
      <p:sp>
        <p:nvSpPr>
          <p:cNvPr id="10" name="text-91">
            <a:extLst xmlns:a="http://schemas.openxmlformats.org/drawingml/2006/main">
              <a:ext uri="{FF2B5EF4-FFF2-40B4-BE49-F238E27FC236}">
                <a16:creationId xmlns:a16="http://schemas.microsoft.com/office/drawing/2014/main" id="{D052BE9C-8EE8-4AF8-9B5C-87A483BA3CDB}"/>
              </a:ext>
            </a:extLst>
          </p:cNvPr>
          <p:cNvSpPr>
            <a:spLocks xmlns:a="http://schemas.openxmlformats.org/drawingml/2006/main" noGrp="1"/>
          </p:cNvSpPr>
          <p:nvPr/>
        </p:nvSpPr>
        <p:spPr>
          <a:xfrm xmlns:a="http://schemas.openxmlformats.org/drawingml/2006/main">
            <a:off x="7258050" y="418147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i="0">
                <a:solidFill>
                  <a:srgbClr val="657269"/>
                </a:solidFill>
                <a:latin typeface="Arial"/>
                <a:ea typeface="Arial"/>
                <a:cs typeface="Arial"/>
              </a:defRPr>
            </a:pPr>
            <a:r>
              <a:rPr sz="1800" b="0" i="0">
                <a:solidFill>
                  <a:srgbClr val="657269"/>
                </a:solidFill>
                <a:latin typeface="Arial"/>
                <a:ea typeface="Arial"/>
                <a:cs typeface="Arial"/>
              </a:rPr>
              <a:t>Show the signal, proposed movement and likely trade-off.</a:t>
            </a:r>
          </a:p>
        </p:txBody>
      </p:sp>
      <p:sp>
        <p:nvSpPr>
          <p:cNvPr id="11" name="text-92">
            <a:extLst xmlns:a="http://schemas.openxmlformats.org/drawingml/2006/main">
              <a:ext uri="{FF2B5EF4-FFF2-40B4-BE49-F238E27FC236}">
                <a16:creationId xmlns:a16="http://schemas.microsoft.com/office/drawing/2014/main" id="{7487C704-C2C9-4DD6-BA1D-BCC0DE04281B}"/>
              </a:ext>
            </a:extLst>
          </p:cNvPr>
          <p:cNvSpPr>
            <a:spLocks xmlns:a="http://schemas.openxmlformats.org/drawingml/2006/main" noGrp="1"/>
          </p:cNvSpPr>
          <p:nvPr/>
        </p:nvSpPr>
        <p:spPr>
          <a:xfrm xmlns:a="http://schemas.openxmlformats.org/drawingml/2006/main">
            <a:off x="7258050" y="5181600"/>
            <a:ext cx="426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i="0">
                <a:solidFill>
                  <a:srgbClr val="263E35"/>
                </a:solidFill>
                <a:latin typeface="Arial"/>
                <a:ea typeface="Arial"/>
                <a:cs typeface="Arial"/>
              </a:defRPr>
            </a:pPr>
            <a:r>
              <a:rPr sz="2175" b="1" i="0">
                <a:solidFill>
                  <a:srgbClr val="263E35"/>
                </a:solidFill>
                <a:latin typeface="Arial"/>
                <a:ea typeface="Arial"/>
                <a:cs typeface="Arial"/>
              </a:rPr>
              <a:t>An approval receipt</a:t>
            </a:r>
          </a:p>
        </p:txBody>
      </p:sp>
      <p:sp>
        <p:nvSpPr>
          <p:cNvPr id="12" name="text-93">
            <a:extLst xmlns:a="http://schemas.openxmlformats.org/drawingml/2006/main">
              <a:ext uri="{FF2B5EF4-FFF2-40B4-BE49-F238E27FC236}">
                <a16:creationId xmlns:a16="http://schemas.microsoft.com/office/drawing/2014/main" id="{FCEB62B5-3BDC-44C2-8F6E-B22B3DE8CC5D}"/>
              </a:ext>
            </a:extLst>
          </p:cNvPr>
          <p:cNvSpPr>
            <a:spLocks xmlns:a="http://schemas.openxmlformats.org/drawingml/2006/main" noGrp="1"/>
          </p:cNvSpPr>
          <p:nvPr/>
        </p:nvSpPr>
        <p:spPr>
          <a:xfrm xmlns:a="http://schemas.openxmlformats.org/drawingml/2006/main">
            <a:off x="7258050" y="5648325"/>
            <a:ext cx="4267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i="0">
                <a:solidFill>
                  <a:srgbClr val="657269"/>
                </a:solidFill>
                <a:latin typeface="Arial"/>
                <a:ea typeface="Arial"/>
                <a:cs typeface="Arial"/>
              </a:defRPr>
            </a:pPr>
            <a:r>
              <a:rPr sz="1800" b="0" i="0">
                <a:solidFill>
                  <a:srgbClr val="657269"/>
                </a:solidFill>
                <a:latin typeface="Arial"/>
                <a:ea typeface="Arial"/>
                <a:cs typeface="Arial"/>
              </a:rPr>
              <a:t>Record what changed, who approved it and whether it completed.</a:t>
            </a:r>
          </a:p>
        </p:txBody>
      </p:sp>
    </p:spTree>
    <p:extLst>
      <p:ext uri="{BB962C8B-B14F-4D97-AF65-F5344CB8AC3E}">
        <p14:creationId xmlns:p14="http://schemas.microsoft.com/office/powerpoint/2010/main" val="844828642"/>
      </p:ext>
    </p:extLst>
  </p:cSld>
</p:sld>
</file>

<file path=ppt/slides/slide9.xml><?xml version="1.0" encoding="utf-8"?>
<p:sld xmlns:p="http://schemas.openxmlformats.org/presentationml/2006/main">
  <p:cSld>
    <p:bg>
      <p:bgPr>
        <a:solidFill xmlns:a="http://schemas.openxmlformats.org/drawingml/2006/main">
          <a:srgbClr val="263E35"/>
        </a:solidFill>
      </p:bgPr>
    </p:bg>
    <p:spTree>
      <p:nvGrpSpPr>
        <p:cNvPr id="1" name=""/>
        <p:cNvGrpSpPr/>
        <p:nvPr/>
      </p:nvGrpSpPr>
      <p:grpSpPr>
        <a:xfrm xmlns:a="http://schemas.openxmlformats.org/drawingml/2006/main"/>
      </p:grpSpPr>
      <p:sp>
        <p:nvSpPr>
          <p:cNvPr id="11" name="text-94">
            <a:extLst xmlns:a="http://schemas.openxmlformats.org/drawingml/2006/main">
              <a:ext uri="{FF2B5EF4-FFF2-40B4-BE49-F238E27FC236}">
                <a16:creationId xmlns:a16="http://schemas.microsoft.com/office/drawing/2014/main" id="{F0EB8942-065D-4F4F-B3DC-B6E6D1FF8220}"/>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F7F3E8"/>
                </a:solidFill>
                <a:latin typeface="Arial"/>
                <a:ea typeface="Arial"/>
                <a:cs typeface="Arial"/>
              </a:defRPr>
            </a:pPr>
            <a:r>
              <a:rPr sz="1350" b="1" i="0">
                <a:solidFill>
                  <a:srgbClr val="F7F3E8"/>
                </a:solidFill>
                <a:latin typeface="Arial"/>
                <a:ea typeface="Arial"/>
                <a:cs typeface="Arial"/>
              </a:rPr>
              <a:t>RunMyStore</a:t>
            </a:r>
          </a:p>
        </p:txBody>
      </p:sp>
      <p:sp>
        <p:nvSpPr>
          <p:cNvPr id="2" name="text-95">
            <a:extLst xmlns:a="http://schemas.openxmlformats.org/drawingml/2006/main">
              <a:ext uri="{FF2B5EF4-FFF2-40B4-BE49-F238E27FC236}">
                <a16:creationId xmlns:a16="http://schemas.microsoft.com/office/drawing/2014/main" id="{6A8B416F-EB9D-49C9-8BD6-04FFC59A478F}"/>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C8D4C9"/>
                </a:solidFill>
                <a:latin typeface="Arial"/>
                <a:ea typeface="Arial"/>
                <a:cs typeface="Arial"/>
              </a:defRPr>
            </a:pPr>
            <a:r>
              <a:rPr sz="1200" b="0" i="0">
                <a:solidFill>
                  <a:srgbClr val="C8D4C9"/>
                </a:solidFill>
                <a:latin typeface="Arial"/>
                <a:ea typeface="Arial"/>
                <a:cs typeface="Arial"/>
              </a:rPr>
              <a:t>PINE LABS / PROPOSED INTEGRATION</a:t>
            </a:r>
          </a:p>
        </p:txBody>
      </p:sp>
      <p:sp>
        <p:nvSpPr>
          <p:cNvPr id="3" name="text-96">
            <a:extLst xmlns:a="http://schemas.openxmlformats.org/drawingml/2006/main">
              <a:ext uri="{FF2B5EF4-FFF2-40B4-BE49-F238E27FC236}">
                <a16:creationId xmlns:a16="http://schemas.microsoft.com/office/drawing/2014/main" id="{0E3ED867-88F8-451A-85AF-56E5E79A4E8A}"/>
              </a:ext>
            </a:extLst>
          </p:cNvPr>
          <p:cNvSpPr>
            <a:spLocks xmlns:a="http://schemas.openxmlformats.org/drawingml/2006/main" noGrp="1"/>
          </p:cNvSpPr>
          <p:nvPr/>
        </p:nvSpPr>
        <p:spPr>
          <a:xfrm xmlns:a="http://schemas.openxmlformats.org/drawingml/2006/main">
            <a:off x="533400" y="933450"/>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i="0">
                <a:solidFill>
                  <a:srgbClr val="F7F3E8"/>
                </a:solidFill>
                <a:latin typeface="Georgia"/>
                <a:ea typeface="Georgia"/>
                <a:cs typeface="Georgia"/>
              </a:defRPr>
            </a:pPr>
            <a:r>
              <a:rPr sz="3750" b="0" i="0">
                <a:solidFill>
                  <a:srgbClr val="F7F3E8"/>
                </a:solidFill>
                <a:latin typeface="Georgia"/>
                <a:ea typeface="Georgia"/>
                <a:cs typeface="Georgia"/>
              </a:rPr>
              <a:t>AgenticOrg coordinates the work</a:t>
            </a:r>
          </a:p>
        </p:txBody>
      </p:sp>
      <p:sp>
        <p:nvSpPr>
          <p:cNvPr id="4" name="text-97">
            <a:extLst xmlns:a="http://schemas.openxmlformats.org/drawingml/2006/main">
              <a:ext uri="{FF2B5EF4-FFF2-40B4-BE49-F238E27FC236}">
                <a16:creationId xmlns:a16="http://schemas.microsoft.com/office/drawing/2014/main" id="{A34A6833-D6F2-482C-828E-92E71F23238E}"/>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C8D4C9"/>
                </a:solidFill>
                <a:latin typeface="Arial"/>
                <a:ea typeface="Arial"/>
                <a:cs typeface="Arial"/>
              </a:defRPr>
            </a:pPr>
            <a:r>
              <a:rPr sz="1125" b="0" i="0">
                <a:solidFill>
                  <a:srgbClr val="C8D4C9"/>
                </a:solidFill>
                <a:latin typeface="Arial"/>
                <a:ea typeface="Arial"/>
                <a:cs typeface="Arial"/>
              </a:rPr>
              <a:t>09</a:t>
            </a:r>
          </a:p>
        </p:txBody>
      </p:sp>
      <p:sp>
        <p:nvSpPr>
          <p:cNvPr id="5" name="text-98">
            <a:extLst xmlns:a="http://schemas.openxmlformats.org/drawingml/2006/main">
              <a:ext uri="{FF2B5EF4-FFF2-40B4-BE49-F238E27FC236}">
                <a16:creationId xmlns:a16="http://schemas.microsoft.com/office/drawing/2014/main" id="{5965070D-0D9C-4C9A-8D5B-0F7B38045727}"/>
              </a:ext>
            </a:extLst>
          </p:cNvPr>
          <p:cNvSpPr>
            <a:spLocks xmlns:a="http://schemas.openxmlformats.org/drawingml/2006/main" noGrp="1"/>
          </p:cNvSpPr>
          <p:nvPr/>
        </p:nvSpPr>
        <p:spPr>
          <a:xfrm xmlns:a="http://schemas.openxmlformats.org/drawingml/2006/main">
            <a:off x="533400" y="2390775"/>
            <a:ext cx="619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i="0">
                <a:solidFill>
                  <a:srgbClr val="F7F3E8"/>
                </a:solidFill>
                <a:latin typeface="Georgia"/>
                <a:ea typeface="Georgia"/>
                <a:cs typeface="Georgia"/>
              </a:defRPr>
            </a:pPr>
            <a:r>
              <a:rPr sz="3300" b="0" i="0">
                <a:solidFill>
                  <a:srgbClr val="F7F3E8"/>
                </a:solidFill>
                <a:latin typeface="Georgia"/>
                <a:ea typeface="Georgia"/>
                <a:cs typeface="Georgia"/>
              </a:rPr>
              <a:t>Shared context</a:t>
            </a:r>
          </a:p>
        </p:txBody>
      </p:sp>
      <p:sp>
        <p:nvSpPr>
          <p:cNvPr id="6" name="text-99">
            <a:extLst xmlns:a="http://schemas.openxmlformats.org/drawingml/2006/main">
              <a:ext uri="{FF2B5EF4-FFF2-40B4-BE49-F238E27FC236}">
                <a16:creationId xmlns:a16="http://schemas.microsoft.com/office/drawing/2014/main" id="{B86A0A3E-A021-490C-B525-AA36D2E7CA28}"/>
              </a:ext>
            </a:extLst>
          </p:cNvPr>
          <p:cNvSpPr>
            <a:spLocks xmlns:a="http://schemas.openxmlformats.org/drawingml/2006/main" noGrp="1"/>
          </p:cNvSpPr>
          <p:nvPr/>
        </p:nvSpPr>
        <p:spPr>
          <a:xfrm xmlns:a="http://schemas.openxmlformats.org/drawingml/2006/main">
            <a:off x="533400" y="3105150"/>
            <a:ext cx="63150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i="0">
                <a:solidFill>
                  <a:srgbClr val="CBD5CA"/>
                </a:solidFill>
                <a:latin typeface="Arial"/>
                <a:ea typeface="Arial"/>
                <a:cs typeface="Arial"/>
              </a:defRPr>
            </a:pPr>
            <a:r>
              <a:rPr sz="2175" b="0" i="0">
                <a:solidFill>
                  <a:srgbClr val="CBD5CA"/>
                </a:solidFill>
                <a:latin typeface="Arial"/>
                <a:ea typeface="Arial"/>
                <a:cs typeface="Arial"/>
              </a:rPr>
              <a:t>Brand guidelines, product facts, goals</a:t>
            </a:r>
          </a:p>
          <a:p xmlns:a="http://schemas.openxmlformats.org/drawingml/2006/main">
            <a:pPr>
              <a:defRPr sz="2175" b="0" i="0">
                <a:solidFill>
                  <a:srgbClr val="CBD5CA"/>
                </a:solidFill>
                <a:latin typeface="Arial"/>
                <a:ea typeface="Arial"/>
                <a:cs typeface="Arial"/>
              </a:defRPr>
            </a:pPr>
            <a:r>
              <a:rPr sz="2175" b="0" i="0">
                <a:solidFill>
                  <a:srgbClr val="CBD5CA"/>
                </a:solidFill>
                <a:latin typeface="Arial"/>
                <a:ea typeface="Arial"/>
                <a:cs typeface="Arial"/>
              </a:rPr>
              <a:t>and approved spending limits.</a:t>
            </a:r>
          </a:p>
        </p:txBody>
      </p:sp>
      <p:sp>
        <p:nvSpPr>
          <p:cNvPr id="7" name="text-100">
            <a:extLst xmlns:a="http://schemas.openxmlformats.org/drawingml/2006/main">
              <a:ext uri="{FF2B5EF4-FFF2-40B4-BE49-F238E27FC236}">
                <a16:creationId xmlns:a16="http://schemas.microsoft.com/office/drawing/2014/main" id="{A6E0F212-9117-467B-A0C9-D3241A524EB4}"/>
              </a:ext>
            </a:extLst>
          </p:cNvPr>
          <p:cNvSpPr>
            <a:spLocks xmlns:a="http://schemas.openxmlformats.org/drawingml/2006/main" noGrp="1"/>
          </p:cNvSpPr>
          <p:nvPr/>
        </p:nvSpPr>
        <p:spPr>
          <a:xfrm xmlns:a="http://schemas.openxmlformats.org/drawingml/2006/main">
            <a:off x="7458075" y="2390775"/>
            <a:ext cx="4210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0" i="0">
                <a:solidFill>
                  <a:srgbClr val="F7F3E8"/>
                </a:solidFill>
                <a:latin typeface="Georgia"/>
                <a:ea typeface="Georgia"/>
                <a:cs typeface="Georgia"/>
              </a:defRPr>
            </a:pPr>
            <a:r>
              <a:rPr sz="2925" b="0" i="0">
                <a:solidFill>
                  <a:srgbClr val="F7F3E8"/>
                </a:solidFill>
                <a:latin typeface="Georgia"/>
                <a:ea typeface="Georgia"/>
                <a:cs typeface="Georgia"/>
              </a:rPr>
              <a:t>Specialist roles</a:t>
            </a:r>
          </a:p>
        </p:txBody>
      </p:sp>
      <p:sp>
        <p:nvSpPr>
          <p:cNvPr id="8" name="text-101">
            <a:extLst xmlns:a="http://schemas.openxmlformats.org/drawingml/2006/main">
              <a:ext uri="{FF2B5EF4-FFF2-40B4-BE49-F238E27FC236}">
                <a16:creationId xmlns:a16="http://schemas.microsoft.com/office/drawing/2014/main" id="{36EEFD7A-2F2D-40C5-84E7-B0FA21E436E3}"/>
              </a:ext>
            </a:extLst>
          </p:cNvPr>
          <p:cNvSpPr>
            <a:spLocks xmlns:a="http://schemas.openxmlformats.org/drawingml/2006/main" noGrp="1"/>
          </p:cNvSpPr>
          <p:nvPr/>
        </p:nvSpPr>
        <p:spPr>
          <a:xfrm xmlns:a="http://schemas.openxmlformats.org/drawingml/2006/main">
            <a:off x="7458075" y="3105150"/>
            <a:ext cx="4210050" cy="2276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i="0">
                <a:solidFill>
                  <a:srgbClr val="CBD5CA"/>
                </a:solidFill>
                <a:latin typeface="Arial"/>
                <a:ea typeface="Arial"/>
                <a:cs typeface="Arial"/>
              </a:defRPr>
            </a:pPr>
            <a:r>
              <a:rPr sz="2025" b="0" i="0">
                <a:solidFill>
                  <a:srgbClr val="CBD5CA"/>
                </a:solidFill>
                <a:latin typeface="Arial"/>
                <a:ea typeface="Arial"/>
                <a:cs typeface="Arial"/>
              </a:rPr>
              <a:t>Catalog</a:t>
            </a:r>
          </a:p>
          <a:p xmlns:a="http://schemas.openxmlformats.org/drawingml/2006/main">
            <a:pPr>
              <a:defRPr sz="2025" b="0" i="0">
                <a:solidFill>
                  <a:srgbClr val="CBD5CA"/>
                </a:solidFill>
                <a:latin typeface="Arial"/>
                <a:ea typeface="Arial"/>
                <a:cs typeface="Arial"/>
              </a:defRPr>
            </a:pPr>
            <a:r>
              <a:rPr sz="2025" b="0" i="0">
                <a:solidFill>
                  <a:srgbClr val="CBD5CA"/>
                </a:solidFill>
                <a:latin typeface="Arial"/>
                <a:ea typeface="Arial"/>
                <a:cs typeface="Arial"/>
              </a:rPr>
              <a:t>Storefront</a:t>
            </a:r>
          </a:p>
          <a:p xmlns:a="http://schemas.openxmlformats.org/drawingml/2006/main">
            <a:pPr>
              <a:defRPr sz="2025" b="0" i="0">
                <a:solidFill>
                  <a:srgbClr val="CBD5CA"/>
                </a:solidFill>
                <a:latin typeface="Arial"/>
                <a:ea typeface="Arial"/>
                <a:cs typeface="Arial"/>
              </a:defRPr>
            </a:pPr>
            <a:r>
              <a:rPr sz="2025" b="0" i="0">
                <a:solidFill>
                  <a:srgbClr val="CBD5CA"/>
                </a:solidFill>
                <a:latin typeface="Arial"/>
                <a:ea typeface="Arial"/>
                <a:cs typeface="Arial"/>
              </a:rPr>
              <a:t>Creative</a:t>
            </a:r>
          </a:p>
          <a:p xmlns:a="http://schemas.openxmlformats.org/drawingml/2006/main">
            <a:pPr>
              <a:defRPr sz="2025" b="0" i="0">
                <a:solidFill>
                  <a:srgbClr val="CBD5CA"/>
                </a:solidFill>
                <a:latin typeface="Arial"/>
                <a:ea typeface="Arial"/>
                <a:cs typeface="Arial"/>
              </a:defRPr>
            </a:pPr>
            <a:r>
              <a:rPr sz="2025" b="0" i="0">
                <a:solidFill>
                  <a:srgbClr val="CBD5CA"/>
                </a:solidFill>
                <a:latin typeface="Arial"/>
                <a:ea typeface="Arial"/>
                <a:cs typeface="Arial"/>
              </a:rPr>
              <a:t>Campaign analyst</a:t>
            </a:r>
          </a:p>
          <a:p xmlns:a="http://schemas.openxmlformats.org/drawingml/2006/main">
            <a:pPr>
              <a:defRPr sz="2025" b="0" i="0">
                <a:solidFill>
                  <a:srgbClr val="CBD5CA"/>
                </a:solidFill>
                <a:latin typeface="Arial"/>
                <a:ea typeface="Arial"/>
                <a:cs typeface="Arial"/>
              </a:defRPr>
            </a:pPr>
            <a:r>
              <a:rPr sz="2025" b="0" i="0">
                <a:solidFill>
                  <a:srgbClr val="CBD5CA"/>
                </a:solidFill>
                <a:latin typeface="Arial"/>
                <a:ea typeface="Arial"/>
                <a:cs typeface="Arial"/>
              </a:rPr>
              <a:t>Budget planner</a:t>
            </a:r>
          </a:p>
        </p:txBody>
      </p:sp>
      <p:sp>
        <p:nvSpPr>
          <p:cNvPr id="9" name="text-102">
            <a:extLst xmlns:a="http://schemas.openxmlformats.org/drawingml/2006/main">
              <a:ext uri="{FF2B5EF4-FFF2-40B4-BE49-F238E27FC236}">
                <a16:creationId xmlns:a16="http://schemas.microsoft.com/office/drawing/2014/main" id="{5FF5F469-CD40-4F64-B3A8-8282BDFC4345}"/>
              </a:ext>
            </a:extLst>
          </p:cNvPr>
          <p:cNvSpPr>
            <a:spLocks xmlns:a="http://schemas.openxmlformats.org/drawingml/2006/main" noGrp="1"/>
          </p:cNvSpPr>
          <p:nvPr/>
        </p:nvSpPr>
        <p:spPr>
          <a:xfrm xmlns:a="http://schemas.openxmlformats.org/drawingml/2006/main">
            <a:off x="533400" y="5219700"/>
            <a:ext cx="657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i="0">
                <a:solidFill>
                  <a:srgbClr val="F7F3E8"/>
                </a:solidFill>
                <a:latin typeface="Arial"/>
                <a:ea typeface="Arial"/>
                <a:cs typeface="Arial"/>
              </a:defRPr>
            </a:pPr>
            <a:r>
              <a:rPr sz="2175" b="0" i="0">
                <a:solidFill>
                  <a:srgbClr val="F7F3E8"/>
                </a:solidFill>
                <a:latin typeface="Arial"/>
                <a:ea typeface="Arial"/>
                <a:cs typeface="Arial"/>
              </a:rPr>
              <a:t>Drafts need your approval.</a:t>
            </a:r>
          </a:p>
          <a:p xmlns:a="http://schemas.openxmlformats.org/drawingml/2006/main">
            <a:pPr>
              <a:defRPr sz="2175" b="0" i="0">
                <a:solidFill>
                  <a:srgbClr val="F7F3E8"/>
                </a:solidFill>
                <a:latin typeface="Arial"/>
                <a:ea typeface="Arial"/>
                <a:cs typeface="Arial"/>
              </a:defRPr>
            </a:pPr>
            <a:r>
              <a:rPr sz="2175" b="0" i="0">
                <a:solidFill>
                  <a:srgbClr val="F7F3E8"/>
                </a:solidFill>
                <a:latin typeface="Arial"/>
                <a:ea typeface="Arial"/>
                <a:cs typeface="Arial"/>
              </a:rPr>
              <a:t>Every completed action needs a receipt.</a:t>
            </a:r>
          </a:p>
        </p:txBody>
      </p:sp>
      <p:sp>
        <p:nvSpPr>
          <p:cNvPr id="10" name="text-103">
            <a:extLst xmlns:a="http://schemas.openxmlformats.org/drawingml/2006/main">
              <a:ext uri="{FF2B5EF4-FFF2-40B4-BE49-F238E27FC236}">
                <a16:creationId xmlns:a16="http://schemas.microsoft.com/office/drawing/2014/main" id="{F92822BD-B716-4E8F-BC81-D751CB01DF2F}"/>
              </a:ext>
            </a:extLst>
          </p:cNvPr>
          <p:cNvSpPr>
            <a:spLocks xmlns:a="http://schemas.openxmlformats.org/drawingml/2006/main" noGrp="1"/>
          </p:cNvSpPr>
          <p:nvPr/>
        </p:nvSpPr>
        <p:spPr>
          <a:xfrm xmlns:a="http://schemas.openxmlformats.org/drawingml/2006/main">
            <a:off x="533400" y="6334125"/>
            <a:ext cx="10382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i="0">
                <a:solidFill>
                  <a:srgbClr val="CBD5CA"/>
                </a:solidFill>
                <a:latin typeface="Arial"/>
                <a:ea typeface="Arial"/>
                <a:cs typeface="Arial"/>
              </a:defRPr>
            </a:pPr>
            <a:r>
              <a:rPr sz="1125" b="0" i="0">
                <a:solidFill>
                  <a:srgbClr val="CBD5CA"/>
                </a:solidFill>
                <a:latin typeface="Arial"/>
                <a:ea typeface="Arial"/>
                <a:cs typeface="Arial"/>
              </a:rPr>
              <a:t>Current demo: simulated agents.</a:t>
            </a:r>
          </a:p>
          <a:p xmlns:a="http://schemas.openxmlformats.org/drawingml/2006/main">
            <a:pPr>
              <a:defRPr sz="1125" b="0" i="0">
                <a:solidFill>
                  <a:srgbClr val="CBD5CA"/>
                </a:solidFill>
                <a:latin typeface="Arial"/>
                <a:ea typeface="Arial"/>
                <a:cs typeface="Arial"/>
              </a:defRPr>
            </a:pPr>
            <a:r>
              <a:rPr sz="1125" b="0" i="0">
                <a:solidFill>
                  <a:srgbClr val="CBD5CA"/>
                </a:solidFill>
                <a:latin typeface="Arial"/>
                <a:ea typeface="Arial"/>
                <a:cs typeface="Arial"/>
              </a:rPr>
              <a:t>AgenticOrg execution is the next integration step.</a:t>
            </a:r>
          </a:p>
        </p:txBody>
      </p:sp>
    </p:spTree>
    <p:extLst>
      <p:ext uri="{BB962C8B-B14F-4D97-AF65-F5344CB8AC3E}">
        <p14:creationId xmlns:p14="http://schemas.microsoft.com/office/powerpoint/2010/main" val="1001149769"/>
      </p:ext>
    </p:extLst>
  </p:cSld>
</p:sld>
</file>

<file path=ppt/slides/slide1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4" name="text-104">
            <a:extLst xmlns:a="http://schemas.openxmlformats.org/drawingml/2006/main">
              <a:ext uri="{FF2B5EF4-FFF2-40B4-BE49-F238E27FC236}">
                <a16:creationId xmlns:a16="http://schemas.microsoft.com/office/drawing/2014/main" id="{D6762FC9-AE1B-44CA-A2C2-4678489C1B8E}"/>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263E35"/>
                </a:solidFill>
                <a:latin typeface="Arial"/>
                <a:ea typeface="Arial"/>
                <a:cs typeface="Arial"/>
              </a:defRPr>
            </a:pPr>
            <a:r>
              <a:rPr sz="1350" b="1" i="0">
                <a:solidFill>
                  <a:srgbClr val="263E35"/>
                </a:solidFill>
                <a:latin typeface="Arial"/>
                <a:ea typeface="Arial"/>
                <a:cs typeface="Arial"/>
              </a:rPr>
              <a:t>RunMyStore</a:t>
            </a:r>
          </a:p>
        </p:txBody>
      </p:sp>
      <p:sp>
        <p:nvSpPr>
          <p:cNvPr id="2" name="text-105">
            <a:extLst xmlns:a="http://schemas.openxmlformats.org/drawingml/2006/main">
              <a:ext uri="{FF2B5EF4-FFF2-40B4-BE49-F238E27FC236}">
                <a16:creationId xmlns:a16="http://schemas.microsoft.com/office/drawing/2014/main" id="{A74BE915-FB5F-420D-B7DC-FA5C4FFED712}"/>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657269"/>
                </a:solidFill>
                <a:latin typeface="Arial"/>
                <a:ea typeface="Arial"/>
                <a:cs typeface="Arial"/>
              </a:defRPr>
            </a:pPr>
            <a:r>
              <a:rPr sz="1200" b="0" i="0">
                <a:solidFill>
                  <a:srgbClr val="657269"/>
                </a:solidFill>
                <a:latin typeface="Arial"/>
                <a:ea typeface="Arial"/>
                <a:cs typeface="Arial"/>
              </a:rPr>
              <a:t>EXISTING SOLUTIONS</a:t>
            </a:r>
          </a:p>
        </p:txBody>
      </p:sp>
      <p:sp>
        <p:nvSpPr>
          <p:cNvPr id="3" name="text-106">
            <a:extLst xmlns:a="http://schemas.openxmlformats.org/drawingml/2006/main">
              <a:ext uri="{FF2B5EF4-FFF2-40B4-BE49-F238E27FC236}">
                <a16:creationId xmlns:a16="http://schemas.microsoft.com/office/drawing/2014/main" id="{320E7BF6-63C5-4F97-9CA1-6995BC8925D4}"/>
              </a:ext>
            </a:extLst>
          </p:cNvPr>
          <p:cNvSpPr>
            <a:spLocks xmlns:a="http://schemas.openxmlformats.org/drawingml/2006/main" noGrp="1"/>
          </p:cNvSpPr>
          <p:nvPr/>
        </p:nvSpPr>
        <p:spPr>
          <a:xfrm xmlns:a="http://schemas.openxmlformats.org/drawingml/2006/main">
            <a:off x="533400" y="933450"/>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i="0">
                <a:solidFill>
                  <a:srgbClr val="263E35"/>
                </a:solidFill>
                <a:latin typeface="Georgia"/>
                <a:ea typeface="Georgia"/>
                <a:cs typeface="Georgia"/>
              </a:defRPr>
            </a:pPr>
            <a:r>
              <a:rPr sz="3750" b="0" i="0">
                <a:solidFill>
                  <a:srgbClr val="263E35"/>
                </a:solidFill>
                <a:latin typeface="Georgia"/>
                <a:ea typeface="Georgia"/>
                <a:cs typeface="Georgia"/>
              </a:rPr>
              <a:t>A strong field, with a focused opportunity</a:t>
            </a:r>
          </a:p>
        </p:txBody>
      </p:sp>
      <p:sp>
        <p:nvSpPr>
          <p:cNvPr id="4" name="text-107">
            <a:extLst xmlns:a="http://schemas.openxmlformats.org/drawingml/2006/main">
              <a:ext uri="{FF2B5EF4-FFF2-40B4-BE49-F238E27FC236}">
                <a16:creationId xmlns:a16="http://schemas.microsoft.com/office/drawing/2014/main" id="{51793486-790D-4405-96D0-2D3F8477A76F}"/>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657269"/>
                </a:solidFill>
                <a:latin typeface="Arial"/>
                <a:ea typeface="Arial"/>
                <a:cs typeface="Arial"/>
              </a:defRPr>
            </a:pPr>
            <a:r>
              <a:rPr sz="1125" b="0" i="0">
                <a:solidFill>
                  <a:srgbClr val="657269"/>
                </a:solidFill>
                <a:latin typeface="Arial"/>
                <a:ea typeface="Arial"/>
                <a:cs typeface="Arial"/>
              </a:rPr>
              <a:t>10</a:t>
            </a:r>
          </a:p>
        </p:txBody>
      </p:sp>
      <p:sp>
        <p:nvSpPr>
          <p:cNvPr id="5" name="text-108">
            <a:extLst xmlns:a="http://schemas.openxmlformats.org/drawingml/2006/main">
              <a:ext uri="{FF2B5EF4-FFF2-40B4-BE49-F238E27FC236}">
                <a16:creationId xmlns:a16="http://schemas.microsoft.com/office/drawing/2014/main" id="{7D67F0FC-9AF7-47D1-8097-CF393A1BC97B}"/>
              </a:ext>
            </a:extLst>
          </p:cNvPr>
          <p:cNvSpPr>
            <a:spLocks xmlns:a="http://schemas.openxmlformats.org/drawingml/2006/main" noGrp="1"/>
          </p:cNvSpPr>
          <p:nvPr/>
        </p:nvSpPr>
        <p:spPr>
          <a:xfrm xmlns:a="http://schemas.openxmlformats.org/drawingml/2006/main">
            <a:off x="533400" y="2371725"/>
            <a:ext cx="31337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i="0">
                <a:solidFill>
                  <a:srgbClr val="263E35"/>
                </a:solidFill>
                <a:latin typeface="Georgia"/>
                <a:ea typeface="Georgia"/>
                <a:cs typeface="Georgia"/>
              </a:defRPr>
            </a:pPr>
            <a:r>
              <a:rPr sz="2400" b="0" i="0">
                <a:solidFill>
                  <a:srgbClr val="263E35"/>
                </a:solidFill>
                <a:latin typeface="Georgia"/>
                <a:ea typeface="Georgia"/>
                <a:cs typeface="Georgia"/>
              </a:rPr>
              <a:t>Shopify Sidekick</a:t>
            </a:r>
          </a:p>
        </p:txBody>
      </p:sp>
      <p:sp>
        <p:nvSpPr>
          <p:cNvPr id="6" name="text-109">
            <a:extLst xmlns:a="http://schemas.openxmlformats.org/drawingml/2006/main">
              <a:ext uri="{FF2B5EF4-FFF2-40B4-BE49-F238E27FC236}">
                <a16:creationId xmlns:a16="http://schemas.microsoft.com/office/drawing/2014/main" id="{E6321EAA-9185-4F27-AF45-A882D71B57CD}"/>
              </a:ext>
            </a:extLst>
          </p:cNvPr>
          <p:cNvSpPr>
            <a:spLocks xmlns:a="http://schemas.openxmlformats.org/drawingml/2006/main" noGrp="1"/>
          </p:cNvSpPr>
          <p:nvPr/>
        </p:nvSpPr>
        <p:spPr>
          <a:xfrm xmlns:a="http://schemas.openxmlformats.org/drawingml/2006/main">
            <a:off x="4067175" y="2409825"/>
            <a:ext cx="746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i="0">
                <a:solidFill>
                  <a:srgbClr val="657269"/>
                </a:solidFill>
                <a:latin typeface="Arial"/>
                <a:ea typeface="Arial"/>
                <a:cs typeface="Arial"/>
              </a:defRPr>
            </a:pPr>
            <a:r>
              <a:rPr sz="1950" b="0" i="0">
                <a:solidFill>
                  <a:srgbClr val="657269"/>
                </a:solidFill>
                <a:latin typeface="Arial"/>
                <a:ea typeface="Arial"/>
                <a:cs typeface="Arial"/>
              </a:rPr>
              <a:t>Store-aware assistance and multi-step actions inside Shopify.</a:t>
            </a:r>
          </a:p>
        </p:txBody>
      </p:sp>
      <p:sp>
        <p:nvSpPr>
          <p:cNvPr id="7" name="text-110">
            <a:extLst xmlns:a="http://schemas.openxmlformats.org/drawingml/2006/main">
              <a:ext uri="{FF2B5EF4-FFF2-40B4-BE49-F238E27FC236}">
                <a16:creationId xmlns:a16="http://schemas.microsoft.com/office/drawing/2014/main" id="{6C63C6E7-40C2-49D3-A892-04D96806D071}"/>
              </a:ext>
            </a:extLst>
          </p:cNvPr>
          <p:cNvSpPr>
            <a:spLocks xmlns:a="http://schemas.openxmlformats.org/drawingml/2006/main" noGrp="1"/>
          </p:cNvSpPr>
          <p:nvPr/>
        </p:nvSpPr>
        <p:spPr>
          <a:xfrm xmlns:a="http://schemas.openxmlformats.org/drawingml/2006/main">
            <a:off x="533400" y="3305175"/>
            <a:ext cx="31337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i="0">
                <a:solidFill>
                  <a:srgbClr val="263E35"/>
                </a:solidFill>
                <a:latin typeface="Georgia"/>
                <a:ea typeface="Georgia"/>
                <a:cs typeface="Georgia"/>
              </a:defRPr>
            </a:pPr>
            <a:r>
              <a:rPr sz="2400" b="0" i="0">
                <a:solidFill>
                  <a:srgbClr val="263E35"/>
                </a:solidFill>
                <a:latin typeface="Georgia"/>
                <a:ea typeface="Georgia"/>
                <a:cs typeface="Georgia"/>
              </a:rPr>
              <a:t>AdCreative.ai</a:t>
            </a:r>
          </a:p>
        </p:txBody>
      </p:sp>
      <p:sp>
        <p:nvSpPr>
          <p:cNvPr id="8" name="text-111">
            <a:extLst xmlns:a="http://schemas.openxmlformats.org/drawingml/2006/main">
              <a:ext uri="{FF2B5EF4-FFF2-40B4-BE49-F238E27FC236}">
                <a16:creationId xmlns:a16="http://schemas.microsoft.com/office/drawing/2014/main" id="{D741F796-BE86-47D7-9EF9-A1A7C49CB08C}"/>
              </a:ext>
            </a:extLst>
          </p:cNvPr>
          <p:cNvSpPr>
            <a:spLocks xmlns:a="http://schemas.openxmlformats.org/drawingml/2006/main" noGrp="1"/>
          </p:cNvSpPr>
          <p:nvPr/>
        </p:nvSpPr>
        <p:spPr>
          <a:xfrm xmlns:a="http://schemas.openxmlformats.org/drawingml/2006/main">
            <a:off x="4067175" y="3343275"/>
            <a:ext cx="746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i="0">
                <a:solidFill>
                  <a:srgbClr val="657269"/>
                </a:solidFill>
                <a:latin typeface="Arial"/>
                <a:ea typeface="Arial"/>
                <a:cs typeface="Arial"/>
              </a:defRPr>
            </a:pPr>
            <a:r>
              <a:rPr sz="1950" b="0" i="0">
                <a:solidFill>
                  <a:srgbClr val="657269"/>
                </a:solidFill>
                <a:latin typeface="Arial"/>
                <a:ea typeface="Arial"/>
                <a:cs typeface="Arial"/>
              </a:rPr>
              <a:t>AI creative generation and creative scoring for advertising.</a:t>
            </a:r>
          </a:p>
        </p:txBody>
      </p:sp>
      <p:sp>
        <p:nvSpPr>
          <p:cNvPr id="9" name="text-112">
            <a:extLst xmlns:a="http://schemas.openxmlformats.org/drawingml/2006/main">
              <a:ext uri="{FF2B5EF4-FFF2-40B4-BE49-F238E27FC236}">
                <a16:creationId xmlns:a16="http://schemas.microsoft.com/office/drawing/2014/main" id="{BA8C528C-E7D7-460E-90E7-89DA4B9697F5}"/>
              </a:ext>
            </a:extLst>
          </p:cNvPr>
          <p:cNvSpPr>
            <a:spLocks xmlns:a="http://schemas.openxmlformats.org/drawingml/2006/main" noGrp="1"/>
          </p:cNvSpPr>
          <p:nvPr/>
        </p:nvSpPr>
        <p:spPr>
          <a:xfrm xmlns:a="http://schemas.openxmlformats.org/drawingml/2006/main">
            <a:off x="533400" y="4238625"/>
            <a:ext cx="31337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i="0">
                <a:solidFill>
                  <a:srgbClr val="263E35"/>
                </a:solidFill>
                <a:latin typeface="Georgia"/>
                <a:ea typeface="Georgia"/>
                <a:cs typeface="Georgia"/>
              </a:defRPr>
            </a:pPr>
            <a:r>
              <a:rPr sz="2400" b="0" i="0">
                <a:solidFill>
                  <a:srgbClr val="263E35"/>
                </a:solidFill>
                <a:latin typeface="Georgia"/>
                <a:ea typeface="Georgia"/>
                <a:cs typeface="Georgia"/>
              </a:rPr>
              <a:t>Klaviyo</a:t>
            </a:r>
          </a:p>
        </p:txBody>
      </p:sp>
      <p:sp>
        <p:nvSpPr>
          <p:cNvPr id="10" name="text-113">
            <a:extLst xmlns:a="http://schemas.openxmlformats.org/drawingml/2006/main">
              <a:ext uri="{FF2B5EF4-FFF2-40B4-BE49-F238E27FC236}">
                <a16:creationId xmlns:a16="http://schemas.microsoft.com/office/drawing/2014/main" id="{23EF9F1B-A1B5-4556-93C2-67F8089F8E17}"/>
              </a:ext>
            </a:extLst>
          </p:cNvPr>
          <p:cNvSpPr>
            <a:spLocks xmlns:a="http://schemas.openxmlformats.org/drawingml/2006/main" noGrp="1"/>
          </p:cNvSpPr>
          <p:nvPr/>
        </p:nvSpPr>
        <p:spPr>
          <a:xfrm xmlns:a="http://schemas.openxmlformats.org/drawingml/2006/main">
            <a:off x="4067175" y="4276725"/>
            <a:ext cx="746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i="0">
                <a:solidFill>
                  <a:srgbClr val="657269"/>
                </a:solidFill>
                <a:latin typeface="Arial"/>
                <a:ea typeface="Arial"/>
                <a:cs typeface="Arial"/>
              </a:defRPr>
            </a:pPr>
            <a:r>
              <a:rPr sz="1950" b="0" i="0">
                <a:solidFill>
                  <a:srgbClr val="657269"/>
                </a:solidFill>
                <a:latin typeface="Arial"/>
                <a:ea typeface="Arial"/>
                <a:cs typeface="Arial"/>
              </a:rPr>
              <a:t>Customer data and automated lifecycle marketing.</a:t>
            </a:r>
          </a:p>
        </p:txBody>
      </p:sp>
      <p:sp>
        <p:nvSpPr>
          <p:cNvPr id="11" name="text-114">
            <a:extLst xmlns:a="http://schemas.openxmlformats.org/drawingml/2006/main">
              <a:ext uri="{FF2B5EF4-FFF2-40B4-BE49-F238E27FC236}">
                <a16:creationId xmlns:a16="http://schemas.microsoft.com/office/drawing/2014/main" id="{9546D3C3-8B90-4C7D-B70D-FDFE9131F11A}"/>
              </a:ext>
            </a:extLst>
          </p:cNvPr>
          <p:cNvSpPr>
            <a:spLocks xmlns:a="http://schemas.openxmlformats.org/drawingml/2006/main" noGrp="1"/>
          </p:cNvSpPr>
          <p:nvPr/>
        </p:nvSpPr>
        <p:spPr>
          <a:xfrm xmlns:a="http://schemas.openxmlformats.org/drawingml/2006/main">
            <a:off x="533400" y="5419725"/>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i="0">
                <a:solidFill>
                  <a:srgbClr val="A75132"/>
                </a:solidFill>
                <a:latin typeface="Arial"/>
                <a:ea typeface="Arial"/>
                <a:cs typeface="Arial"/>
              </a:defRPr>
            </a:pPr>
            <a:r>
              <a:rPr sz="2025" b="1" i="0">
                <a:solidFill>
                  <a:srgbClr val="A75132"/>
                </a:solidFill>
                <a:latin typeface="Arial"/>
                <a:ea typeface="Arial"/>
                <a:cs typeface="Arial"/>
              </a:rPr>
              <a:t>Our hypothesis</a:t>
            </a:r>
          </a:p>
        </p:txBody>
      </p:sp>
      <p:sp>
        <p:nvSpPr>
          <p:cNvPr id="12" name="text-115">
            <a:extLst xmlns:a="http://schemas.openxmlformats.org/drawingml/2006/main">
              <a:ext uri="{FF2B5EF4-FFF2-40B4-BE49-F238E27FC236}">
                <a16:creationId xmlns:a16="http://schemas.microsoft.com/office/drawing/2014/main" id="{CD61D63B-A77F-489F-B286-1F1E7BBF048B}"/>
              </a:ext>
            </a:extLst>
          </p:cNvPr>
          <p:cNvSpPr>
            <a:spLocks xmlns:a="http://schemas.openxmlformats.org/drawingml/2006/main" noGrp="1"/>
          </p:cNvSpPr>
          <p:nvPr/>
        </p:nvSpPr>
        <p:spPr>
          <a:xfrm xmlns:a="http://schemas.openxmlformats.org/drawingml/2006/main">
            <a:off x="4067175" y="5324475"/>
            <a:ext cx="746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i="0">
                <a:solidFill>
                  <a:srgbClr val="263E35"/>
                </a:solidFill>
                <a:latin typeface="Arial"/>
                <a:ea typeface="Arial"/>
                <a:cs typeface="Arial"/>
              </a:defRPr>
            </a:pPr>
            <a:r>
              <a:rPr sz="1950" b="0" i="0">
                <a:solidFill>
                  <a:srgbClr val="263E35"/>
                </a:solidFill>
                <a:latin typeface="Arial"/>
                <a:ea typeface="Arial"/>
                <a:cs typeface="Arial"/>
              </a:rPr>
              <a:t>A simpler cross-tool workflow for small teams, with product context</a:t>
            </a:r>
          </a:p>
          <a:p xmlns:a="http://schemas.openxmlformats.org/drawingml/2006/main">
            <a:pPr>
              <a:defRPr sz="1950" b="0" i="0">
                <a:solidFill>
                  <a:srgbClr val="263E35"/>
                </a:solidFill>
                <a:latin typeface="Arial"/>
                <a:ea typeface="Arial"/>
                <a:cs typeface="Arial"/>
              </a:defRPr>
            </a:pPr>
            <a:r>
              <a:rPr sz="1950" b="0" i="0">
                <a:solidFill>
                  <a:srgbClr val="263E35"/>
                </a:solidFill>
                <a:latin typeface="Arial"/>
                <a:ea typeface="Arial"/>
                <a:cs typeface="Arial"/>
              </a:rPr>
              <a:t>and budget approvals carried through each handoff.</a:t>
            </a:r>
          </a:p>
        </p:txBody>
      </p:sp>
      <p:sp>
        <p:nvSpPr>
          <p:cNvPr id="13" name="text-116">
            <a:extLst xmlns:a="http://schemas.openxmlformats.org/drawingml/2006/main">
              <a:ext uri="{FF2B5EF4-FFF2-40B4-BE49-F238E27FC236}">
                <a16:creationId xmlns:a16="http://schemas.microsoft.com/office/drawing/2014/main" id="{B1998CB3-C244-41F5-9F46-D359E72291EC}"/>
              </a:ext>
            </a:extLst>
          </p:cNvPr>
          <p:cNvSpPr>
            <a:spLocks xmlns:a="http://schemas.openxmlformats.org/drawingml/2006/main" noGrp="1"/>
          </p:cNvSpPr>
          <p:nvPr/>
        </p:nvSpPr>
        <p:spPr>
          <a:xfrm xmlns:a="http://schemas.openxmlformats.org/drawingml/2006/main">
            <a:off x="533400" y="62769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i="0">
                <a:solidFill>
                  <a:srgbClr val="657269"/>
                </a:solidFill>
                <a:latin typeface="Arial"/>
                <a:ea typeface="Arial"/>
                <a:cs typeface="Arial"/>
              </a:defRPr>
            </a:pPr>
            <a:r>
              <a:rPr sz="975" b="0" i="0">
                <a:solidFill>
                  <a:srgbClr val="657269"/>
                </a:solidFill>
                <a:latin typeface="Arial"/>
                <a:ea typeface="Arial"/>
                <a:cs typeface="Arial"/>
              </a:rPr>
              <a:t>Sources: Shopify Help, AdCreative.ai and Klaviyo. Capability descriptions, not performance comparisons.</a:t>
            </a:r>
          </a:p>
        </p:txBody>
      </p:sp>
    </p:spTree>
    <p:extLst>
      <p:ext uri="{BB962C8B-B14F-4D97-AF65-F5344CB8AC3E}">
        <p14:creationId xmlns:p14="http://schemas.microsoft.com/office/powerpoint/2010/main" val="144670722"/>
      </p:ext>
    </p:extLst>
  </p:cSld>
</p:sld>
</file>

<file path=ppt/slides/slide1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3" name="text-117">
            <a:extLst xmlns:a="http://schemas.openxmlformats.org/drawingml/2006/main">
              <a:ext uri="{FF2B5EF4-FFF2-40B4-BE49-F238E27FC236}">
                <a16:creationId xmlns:a16="http://schemas.microsoft.com/office/drawing/2014/main" id="{F658EACD-7622-4BD5-BC33-48A8FB29FFB0}"/>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263E35"/>
                </a:solidFill>
                <a:latin typeface="Arial"/>
                <a:ea typeface="Arial"/>
                <a:cs typeface="Arial"/>
              </a:defRPr>
            </a:pPr>
            <a:r>
              <a:rPr sz="1350" b="1" i="0">
                <a:solidFill>
                  <a:srgbClr val="263E35"/>
                </a:solidFill>
                <a:latin typeface="Arial"/>
                <a:ea typeface="Arial"/>
                <a:cs typeface="Arial"/>
              </a:rPr>
              <a:t>RunMyStore</a:t>
            </a:r>
          </a:p>
        </p:txBody>
      </p:sp>
      <p:sp>
        <p:nvSpPr>
          <p:cNvPr id="2" name="text-118">
            <a:extLst xmlns:a="http://schemas.openxmlformats.org/drawingml/2006/main">
              <a:ext uri="{FF2B5EF4-FFF2-40B4-BE49-F238E27FC236}">
                <a16:creationId xmlns:a16="http://schemas.microsoft.com/office/drawing/2014/main" id="{011BE553-3E95-4C67-894B-348DC7C0EEE4}"/>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657269"/>
                </a:solidFill>
                <a:latin typeface="Arial"/>
                <a:ea typeface="Arial"/>
                <a:cs typeface="Arial"/>
              </a:defRPr>
            </a:pPr>
            <a:r>
              <a:rPr sz="1200" b="0" i="0">
                <a:solidFill>
                  <a:srgbClr val="657269"/>
                </a:solidFill>
                <a:latin typeface="Arial"/>
                <a:ea typeface="Arial"/>
                <a:cs typeface="Arial"/>
              </a:rPr>
              <a:t>PROPOSED NORTH STAR</a:t>
            </a:r>
          </a:p>
        </p:txBody>
      </p:sp>
      <p:sp>
        <p:nvSpPr>
          <p:cNvPr id="3" name="text-119">
            <a:extLst xmlns:a="http://schemas.openxmlformats.org/drawingml/2006/main">
              <a:ext uri="{FF2B5EF4-FFF2-40B4-BE49-F238E27FC236}">
                <a16:creationId xmlns:a16="http://schemas.microsoft.com/office/drawing/2014/main" id="{7E67415C-9A11-40F6-8A5E-E046D0B99732}"/>
              </a:ext>
            </a:extLst>
          </p:cNvPr>
          <p:cNvSpPr>
            <a:spLocks xmlns:a="http://schemas.openxmlformats.org/drawingml/2006/main" noGrp="1"/>
          </p:cNvSpPr>
          <p:nvPr/>
        </p:nvSpPr>
        <p:spPr>
          <a:xfrm xmlns:a="http://schemas.openxmlformats.org/drawingml/2006/main">
            <a:off x="533400" y="933450"/>
            <a:ext cx="11125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750" b="0" i="0">
                <a:solidFill>
                  <a:srgbClr val="263E35"/>
                </a:solidFill>
                <a:latin typeface="Georgia"/>
                <a:ea typeface="Georgia"/>
                <a:cs typeface="Georgia"/>
              </a:defRPr>
            </a:pPr>
            <a:r>
              <a:rPr sz="3750" b="0" i="0">
                <a:solidFill>
                  <a:srgbClr val="263E35"/>
                </a:solidFill>
                <a:latin typeface="Georgia"/>
                <a:ea typeface="Georgia"/>
                <a:cs typeface="Georgia"/>
              </a:rPr>
              <a:t>Owner hours returned, every week</a:t>
            </a:r>
          </a:p>
        </p:txBody>
      </p:sp>
      <p:sp>
        <p:nvSpPr>
          <p:cNvPr id="4" name="text-120">
            <a:extLst xmlns:a="http://schemas.openxmlformats.org/drawingml/2006/main">
              <a:ext uri="{FF2B5EF4-FFF2-40B4-BE49-F238E27FC236}">
                <a16:creationId xmlns:a16="http://schemas.microsoft.com/office/drawing/2014/main" id="{7F158089-6B07-4922-BC8B-64D53D7EBBEC}"/>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657269"/>
                </a:solidFill>
                <a:latin typeface="Arial"/>
                <a:ea typeface="Arial"/>
                <a:cs typeface="Arial"/>
              </a:defRPr>
            </a:pPr>
            <a:r>
              <a:rPr sz="1125" b="0" i="0">
                <a:solidFill>
                  <a:srgbClr val="657269"/>
                </a:solidFill>
                <a:latin typeface="Arial"/>
                <a:ea typeface="Arial"/>
                <a:cs typeface="Arial"/>
              </a:rPr>
              <a:t>11</a:t>
            </a:r>
          </a:p>
        </p:txBody>
      </p:sp>
      <p:sp>
        <p:nvSpPr>
          <p:cNvPr id="5" name="text-121">
            <a:extLst xmlns:a="http://schemas.openxmlformats.org/drawingml/2006/main">
              <a:ext uri="{FF2B5EF4-FFF2-40B4-BE49-F238E27FC236}">
                <a16:creationId xmlns:a16="http://schemas.microsoft.com/office/drawing/2014/main" id="{D062D7CC-4CB9-4001-BF99-AD506B0E840B}"/>
              </a:ext>
            </a:extLst>
          </p:cNvPr>
          <p:cNvSpPr>
            <a:spLocks xmlns:a="http://schemas.openxmlformats.org/drawingml/2006/main" noGrp="1"/>
          </p:cNvSpPr>
          <p:nvPr/>
        </p:nvSpPr>
        <p:spPr>
          <a:xfrm xmlns:a="http://schemas.openxmlformats.org/drawingml/2006/main">
            <a:off x="533400" y="2352675"/>
            <a:ext cx="692467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0" i="0">
                <a:solidFill>
                  <a:srgbClr val="A75132"/>
                </a:solidFill>
                <a:latin typeface="Georgia"/>
                <a:ea typeface="Georgia"/>
                <a:cs typeface="Georgia"/>
              </a:defRPr>
            </a:pPr>
            <a:r>
              <a:rPr sz="4500" b="0" i="0">
                <a:solidFill>
                  <a:srgbClr val="A75132"/>
                </a:solidFill>
                <a:latin typeface="Georgia"/>
                <a:ea typeface="Georgia"/>
                <a:cs typeface="Georgia"/>
              </a:rPr>
              <a:t>Verified hours saved</a:t>
            </a:r>
          </a:p>
          <a:p xmlns:a="http://schemas.openxmlformats.org/drawingml/2006/main">
            <a:pPr>
              <a:defRPr sz="4500" b="0" i="0">
                <a:solidFill>
                  <a:srgbClr val="A75132"/>
                </a:solidFill>
                <a:latin typeface="Georgia"/>
                <a:ea typeface="Georgia"/>
                <a:cs typeface="Georgia"/>
              </a:defRPr>
            </a:pPr>
            <a:r>
              <a:rPr sz="4500" b="0" i="0">
                <a:solidFill>
                  <a:srgbClr val="A75132"/>
                </a:solidFill>
                <a:latin typeface="Georgia"/>
                <a:ea typeface="Georgia"/>
                <a:cs typeface="Georgia"/>
              </a:rPr>
              <a:t>per active store</a:t>
            </a:r>
          </a:p>
        </p:txBody>
      </p:sp>
      <p:sp>
        <p:nvSpPr>
          <p:cNvPr id="6" name="text-122">
            <a:extLst xmlns:a="http://schemas.openxmlformats.org/drawingml/2006/main">
              <a:ext uri="{FF2B5EF4-FFF2-40B4-BE49-F238E27FC236}">
                <a16:creationId xmlns:a16="http://schemas.microsoft.com/office/drawing/2014/main" id="{C834F9CA-B80F-4CE7-8131-B4075BA4F135}"/>
              </a:ext>
            </a:extLst>
          </p:cNvPr>
          <p:cNvSpPr>
            <a:spLocks xmlns:a="http://schemas.openxmlformats.org/drawingml/2006/main" noGrp="1"/>
          </p:cNvSpPr>
          <p:nvPr/>
        </p:nvSpPr>
        <p:spPr>
          <a:xfrm xmlns:a="http://schemas.openxmlformats.org/drawingml/2006/main">
            <a:off x="533400" y="4143375"/>
            <a:ext cx="714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i="0">
                <a:solidFill>
                  <a:srgbClr val="263E35"/>
                </a:solidFill>
                <a:latin typeface="Arial"/>
                <a:ea typeface="Arial"/>
                <a:cs typeface="Arial"/>
              </a:defRPr>
            </a:pPr>
            <a:r>
              <a:rPr sz="2100" b="0" i="0">
                <a:solidFill>
                  <a:srgbClr val="263E35"/>
                </a:solidFill>
                <a:latin typeface="Arial"/>
                <a:ea typeface="Arial"/>
                <a:cs typeface="Arial"/>
              </a:rPr>
              <a:t>Measure at the weekly median.</a:t>
            </a:r>
          </a:p>
        </p:txBody>
      </p:sp>
      <p:sp>
        <p:nvSpPr>
          <p:cNvPr id="7" name="text-123">
            <a:extLst xmlns:a="http://schemas.openxmlformats.org/drawingml/2006/main">
              <a:ext uri="{FF2B5EF4-FFF2-40B4-BE49-F238E27FC236}">
                <a16:creationId xmlns:a16="http://schemas.microsoft.com/office/drawing/2014/main" id="{9753A787-1051-4114-ADBE-01209F84D52D}"/>
              </a:ext>
            </a:extLst>
          </p:cNvPr>
          <p:cNvSpPr>
            <a:spLocks xmlns:a="http://schemas.openxmlformats.org/drawingml/2006/main" noGrp="1"/>
          </p:cNvSpPr>
          <p:nvPr/>
        </p:nvSpPr>
        <p:spPr>
          <a:xfrm xmlns:a="http://schemas.openxmlformats.org/drawingml/2006/main">
            <a:off x="533400" y="4972050"/>
            <a:ext cx="67722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i="0">
                <a:solidFill>
                  <a:srgbClr val="263E35"/>
                </a:solidFill>
                <a:latin typeface="Arial"/>
                <a:ea typeface="Arial"/>
                <a:cs typeface="Arial"/>
              </a:defRPr>
            </a:pPr>
            <a:r>
              <a:rPr sz="2250" b="0" i="0">
                <a:solidFill>
                  <a:srgbClr val="263E35"/>
                </a:solidFill>
                <a:latin typeface="Arial"/>
                <a:ea typeface="Arial"/>
                <a:cs typeface="Arial"/>
              </a:rPr>
              <a:t>Manual baseline time</a:t>
            </a:r>
          </a:p>
          <a:p xmlns:a="http://schemas.openxmlformats.org/drawingml/2006/main">
            <a:pPr>
              <a:defRPr sz="2250" b="0" i="0">
                <a:solidFill>
                  <a:srgbClr val="263E35"/>
                </a:solidFill>
                <a:latin typeface="Arial"/>
                <a:ea typeface="Arial"/>
                <a:cs typeface="Arial"/>
              </a:defRPr>
            </a:pPr>
            <a:r>
              <a:rPr sz="2250" b="0" i="0">
                <a:solidFill>
                  <a:srgbClr val="263E35"/>
                </a:solidFill>
                <a:latin typeface="Arial"/>
                <a:ea typeface="Arial"/>
                <a:cs typeface="Arial"/>
              </a:rPr>
              <a:t>less review, correction and rework time</a:t>
            </a:r>
          </a:p>
        </p:txBody>
      </p:sp>
      <p:sp>
        <p:nvSpPr>
          <p:cNvPr id="8" name="text-124">
            <a:extLst xmlns:a="http://schemas.openxmlformats.org/drawingml/2006/main">
              <a:ext uri="{FF2B5EF4-FFF2-40B4-BE49-F238E27FC236}">
                <a16:creationId xmlns:a16="http://schemas.microsoft.com/office/drawing/2014/main" id="{500F236C-EA74-4E86-8D41-D75125AD2EDD}"/>
              </a:ext>
            </a:extLst>
          </p:cNvPr>
          <p:cNvSpPr>
            <a:spLocks xmlns:a="http://schemas.openxmlformats.org/drawingml/2006/main" noGrp="1"/>
          </p:cNvSpPr>
          <p:nvPr/>
        </p:nvSpPr>
        <p:spPr>
          <a:xfrm xmlns:a="http://schemas.openxmlformats.org/drawingml/2006/main">
            <a:off x="7991475" y="2324100"/>
            <a:ext cx="356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i="0">
                <a:solidFill>
                  <a:srgbClr val="263E35"/>
                </a:solidFill>
                <a:latin typeface="Arial"/>
                <a:ea typeface="Arial"/>
                <a:cs typeface="Arial"/>
              </a:defRPr>
            </a:pPr>
            <a:r>
              <a:rPr sz="2175" b="1" i="0">
                <a:solidFill>
                  <a:srgbClr val="263E35"/>
                </a:solidFill>
                <a:latin typeface="Arial"/>
                <a:ea typeface="Arial"/>
                <a:cs typeface="Arial"/>
              </a:rPr>
              <a:t>Count completed work</a:t>
            </a:r>
          </a:p>
        </p:txBody>
      </p:sp>
      <p:sp>
        <p:nvSpPr>
          <p:cNvPr id="9" name="text-125">
            <a:extLst xmlns:a="http://schemas.openxmlformats.org/drawingml/2006/main">
              <a:ext uri="{FF2B5EF4-FFF2-40B4-BE49-F238E27FC236}">
                <a16:creationId xmlns:a16="http://schemas.microsoft.com/office/drawing/2014/main" id="{FE359A1D-7B69-4D65-98B9-A8868F32C621}"/>
              </a:ext>
            </a:extLst>
          </p:cNvPr>
          <p:cNvSpPr>
            <a:spLocks xmlns:a="http://schemas.openxmlformats.org/drawingml/2006/main" noGrp="1"/>
          </p:cNvSpPr>
          <p:nvPr/>
        </p:nvSpPr>
        <p:spPr>
          <a:xfrm xmlns:a="http://schemas.openxmlformats.org/drawingml/2006/main">
            <a:off x="7991475" y="2790825"/>
            <a:ext cx="35623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i="0">
                <a:solidFill>
                  <a:srgbClr val="657269"/>
                </a:solidFill>
                <a:latin typeface="Arial"/>
                <a:ea typeface="Arial"/>
                <a:cs typeface="Arial"/>
              </a:defRPr>
            </a:pPr>
            <a:r>
              <a:rPr sz="1800" b="0" i="0">
                <a:solidFill>
                  <a:srgbClr val="657269"/>
                </a:solidFill>
                <a:latin typeface="Arial"/>
                <a:ea typeface="Arial"/>
                <a:cs typeface="Arial"/>
              </a:rPr>
              <a:t>Use unique execution receipts. Exclude failed or duplicate jobs.</a:t>
            </a:r>
          </a:p>
        </p:txBody>
      </p:sp>
      <p:sp>
        <p:nvSpPr>
          <p:cNvPr id="10" name="text-126">
            <a:extLst xmlns:a="http://schemas.openxmlformats.org/drawingml/2006/main">
              <a:ext uri="{FF2B5EF4-FFF2-40B4-BE49-F238E27FC236}">
                <a16:creationId xmlns:a16="http://schemas.microsoft.com/office/drawing/2014/main" id="{D557472A-7296-4C26-9E1E-7C0795D4BF39}"/>
              </a:ext>
            </a:extLst>
          </p:cNvPr>
          <p:cNvSpPr>
            <a:spLocks xmlns:a="http://schemas.openxmlformats.org/drawingml/2006/main" noGrp="1"/>
          </p:cNvSpPr>
          <p:nvPr/>
        </p:nvSpPr>
        <p:spPr>
          <a:xfrm xmlns:a="http://schemas.openxmlformats.org/drawingml/2006/main">
            <a:off x="7991475" y="4086225"/>
            <a:ext cx="356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i="0">
                <a:solidFill>
                  <a:srgbClr val="263E35"/>
                </a:solidFill>
                <a:latin typeface="Arial"/>
                <a:ea typeface="Arial"/>
                <a:cs typeface="Arial"/>
              </a:defRPr>
            </a:pPr>
            <a:r>
              <a:rPr sz="2175" b="1" i="0">
                <a:solidFill>
                  <a:srgbClr val="263E35"/>
                </a:solidFill>
                <a:latin typeface="Arial"/>
                <a:ea typeface="Arial"/>
                <a:cs typeface="Arial"/>
              </a:rPr>
              <a:t>Keep quality intact</a:t>
            </a:r>
          </a:p>
        </p:txBody>
      </p:sp>
      <p:sp>
        <p:nvSpPr>
          <p:cNvPr id="11" name="text-127">
            <a:extLst xmlns:a="http://schemas.openxmlformats.org/drawingml/2006/main">
              <a:ext uri="{FF2B5EF4-FFF2-40B4-BE49-F238E27FC236}">
                <a16:creationId xmlns:a16="http://schemas.microsoft.com/office/drawing/2014/main" id="{23049764-B8CE-4123-A659-27C85CEB3E57}"/>
              </a:ext>
            </a:extLst>
          </p:cNvPr>
          <p:cNvSpPr>
            <a:spLocks xmlns:a="http://schemas.openxmlformats.org/drawingml/2006/main" noGrp="1"/>
          </p:cNvSpPr>
          <p:nvPr/>
        </p:nvSpPr>
        <p:spPr>
          <a:xfrm xmlns:a="http://schemas.openxmlformats.org/drawingml/2006/main">
            <a:off x="7991475" y="4552950"/>
            <a:ext cx="35623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i="0">
                <a:solidFill>
                  <a:srgbClr val="657269"/>
                </a:solidFill>
                <a:latin typeface="Arial"/>
                <a:ea typeface="Arial"/>
                <a:cs typeface="Arial"/>
              </a:defRPr>
            </a:pPr>
            <a:r>
              <a:rPr sz="1800" b="0" i="0">
                <a:solidFill>
                  <a:srgbClr val="657269"/>
                </a:solidFill>
                <a:latin typeface="Arial"/>
                <a:ea typeface="Arial"/>
                <a:cs typeface="Arial"/>
              </a:rPr>
              <a:t>Track claim errors, reversals, spend limits and merchant retention.</a:t>
            </a:r>
          </a:p>
        </p:txBody>
      </p:sp>
      <p:sp>
        <p:nvSpPr>
          <p:cNvPr id="12" name="text-128">
            <a:extLst xmlns:a="http://schemas.openxmlformats.org/drawingml/2006/main">
              <a:ext uri="{FF2B5EF4-FFF2-40B4-BE49-F238E27FC236}">
                <a16:creationId xmlns:a16="http://schemas.microsoft.com/office/drawing/2014/main" id="{54C6EB5C-188B-4483-9CED-D5A92765A1A4}"/>
              </a:ext>
            </a:extLst>
          </p:cNvPr>
          <p:cNvSpPr>
            <a:spLocks xmlns:a="http://schemas.openxmlformats.org/drawingml/2006/main" noGrp="1"/>
          </p:cNvSpPr>
          <p:nvPr/>
        </p:nvSpPr>
        <p:spPr>
          <a:xfrm xmlns:a="http://schemas.openxmlformats.org/drawingml/2006/main">
            <a:off x="533400" y="62769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i="0">
                <a:solidFill>
                  <a:srgbClr val="657269"/>
                </a:solidFill>
                <a:latin typeface="Arial"/>
                <a:ea typeface="Arial"/>
                <a:cs typeface="Arial"/>
              </a:defRPr>
            </a:pPr>
            <a:r>
              <a:rPr sz="975" b="0" i="0">
                <a:solidFill>
                  <a:srgbClr val="657269"/>
                </a:solidFill>
                <a:latin typeface="Arial"/>
                <a:ea typeface="Arial"/>
                <a:cs typeface="Arial"/>
              </a:rPr>
              <a:t>Proposed metric. No time-saving result has been measured in this prototype.</a:t>
            </a:r>
          </a:p>
        </p:txBody>
      </p:sp>
    </p:spTree>
    <p:extLst>
      <p:ext uri="{BB962C8B-B14F-4D97-AF65-F5344CB8AC3E}">
        <p14:creationId xmlns:p14="http://schemas.microsoft.com/office/powerpoint/2010/main" val="637074989"/>
      </p:ext>
    </p:extLst>
  </p:cSld>
</p:sld>
</file>

<file path=ppt/slides/slide1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9" name="text-129">
            <a:extLst xmlns:a="http://schemas.openxmlformats.org/drawingml/2006/main">
              <a:ext uri="{FF2B5EF4-FFF2-40B4-BE49-F238E27FC236}">
                <a16:creationId xmlns:a16="http://schemas.microsoft.com/office/drawing/2014/main" id="{0A539DE6-450F-4300-B0A8-FB34F6F66465}"/>
              </a:ext>
            </a:extLst>
          </p:cNvPr>
          <p:cNvSpPr>
            <a:spLocks xmlns:a="http://schemas.openxmlformats.org/drawingml/2006/main" noGrp="1"/>
          </p:cNvSpPr>
          <p:nvPr/>
        </p:nvSpPr>
        <p:spPr>
          <a:xfrm xmlns:a="http://schemas.openxmlformats.org/drawingml/2006/main">
            <a:off x="533400" y="3238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i="0">
                <a:solidFill>
                  <a:srgbClr val="263E35"/>
                </a:solidFill>
                <a:latin typeface="Arial"/>
                <a:ea typeface="Arial"/>
                <a:cs typeface="Arial"/>
              </a:defRPr>
            </a:pPr>
            <a:r>
              <a:rPr sz="1350" b="1" i="0">
                <a:solidFill>
                  <a:srgbClr val="263E35"/>
                </a:solidFill>
                <a:latin typeface="Arial"/>
                <a:ea typeface="Arial"/>
                <a:cs typeface="Arial"/>
              </a:rPr>
              <a:t>RunMyStore</a:t>
            </a:r>
          </a:p>
        </p:txBody>
      </p:sp>
      <p:sp>
        <p:nvSpPr>
          <p:cNvPr id="2" name="text-130">
            <a:extLst xmlns:a="http://schemas.openxmlformats.org/drawingml/2006/main">
              <a:ext uri="{FF2B5EF4-FFF2-40B4-BE49-F238E27FC236}">
                <a16:creationId xmlns:a16="http://schemas.microsoft.com/office/drawing/2014/main" id="{D789A741-F0C3-43D7-BDAE-A3CCB5739D4E}"/>
              </a:ext>
            </a:extLst>
          </p:cNvPr>
          <p:cNvSpPr>
            <a:spLocks xmlns:a="http://schemas.openxmlformats.org/drawingml/2006/main" noGrp="1"/>
          </p:cNvSpPr>
          <p:nvPr/>
        </p:nvSpPr>
        <p:spPr>
          <a:xfrm xmlns:a="http://schemas.openxmlformats.org/drawingml/2006/main">
            <a:off x="6858000" y="3238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i="0">
                <a:solidFill>
                  <a:srgbClr val="657269"/>
                </a:solidFill>
                <a:latin typeface="Arial"/>
                <a:ea typeface="Arial"/>
                <a:cs typeface="Arial"/>
              </a:defRPr>
            </a:pPr>
            <a:r>
              <a:rPr sz="1200" b="0" i="0">
                <a:solidFill>
                  <a:srgbClr val="657269"/>
                </a:solidFill>
                <a:latin typeface="Arial"/>
                <a:ea typeface="Arial"/>
                <a:cs typeface="Arial"/>
              </a:rPr>
              <a:t>LIVE DEMO</a:t>
            </a:r>
          </a:p>
        </p:txBody>
      </p:sp>
      <p:sp>
        <p:nvSpPr>
          <p:cNvPr id="3" name="text-131">
            <a:extLst xmlns:a="http://schemas.openxmlformats.org/drawingml/2006/main">
              <a:ext uri="{FF2B5EF4-FFF2-40B4-BE49-F238E27FC236}">
                <a16:creationId xmlns:a16="http://schemas.microsoft.com/office/drawing/2014/main" id="{CB80E570-3411-403A-8AC3-607D38CF9B7C}"/>
              </a:ext>
            </a:extLst>
          </p:cNvPr>
          <p:cNvSpPr>
            <a:spLocks xmlns:a="http://schemas.openxmlformats.org/drawingml/2006/main" noGrp="1"/>
          </p:cNvSpPr>
          <p:nvPr/>
        </p:nvSpPr>
        <p:spPr>
          <a:xfrm xmlns:a="http://schemas.openxmlformats.org/drawingml/2006/main">
            <a:off x="11220450" y="6429375"/>
            <a:ext cx="438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i="0">
                <a:solidFill>
                  <a:srgbClr val="657269"/>
                </a:solidFill>
                <a:latin typeface="Arial"/>
                <a:ea typeface="Arial"/>
                <a:cs typeface="Arial"/>
              </a:defRPr>
            </a:pPr>
            <a:r>
              <a:rPr sz="1125" b="0" i="0">
                <a:solidFill>
                  <a:srgbClr val="657269"/>
                </a:solidFill>
                <a:latin typeface="Arial"/>
                <a:ea typeface="Arial"/>
                <a:cs typeface="Arial"/>
              </a:rPr>
              <a:t>12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c27380001054fd1"/>
          <a:srcRect xmlns:a="http://schemas.openxmlformats.org/drawingml/2006/main" l="23142" t="0" r="23142" b="0"/>
          <a:stretch xmlns:a="http://schemas.openxmlformats.org/drawingml/2006/main">
            <a:fillRect l="0" t="0" r="0" b="0"/>
          </a:stretch>
        </p:blipFill>
        <p:spPr>
          <a:xfrm xmlns:a="http://schemas.openxmlformats.org/drawingml/2006/main">
            <a:off x="8629650" y="1638300"/>
            <a:ext cx="3028950" cy="4229100"/>
          </a:xfrm>
          <a:prstGeom xmlns:a="http://schemas.openxmlformats.org/drawingml/2006/main" prst="rect">
            <a:avLst/>
          </a:prstGeom>
        </p:spPr>
      </p:pic>
      <p:sp>
        <p:nvSpPr>
          <p:cNvPr id="5" name="text-132">
            <a:extLst xmlns:a="http://schemas.openxmlformats.org/drawingml/2006/main">
              <a:ext uri="{FF2B5EF4-FFF2-40B4-BE49-F238E27FC236}">
                <a16:creationId xmlns:a16="http://schemas.microsoft.com/office/drawing/2014/main" id="{07C30781-0C9F-4015-A5F3-D58931E464F1}"/>
              </a:ext>
            </a:extLst>
          </p:cNvPr>
          <p:cNvSpPr>
            <a:spLocks xmlns:a="http://schemas.openxmlformats.org/drawingml/2006/main" noGrp="1"/>
          </p:cNvSpPr>
          <p:nvPr/>
        </p:nvSpPr>
        <p:spPr>
          <a:xfrm xmlns:a="http://schemas.openxmlformats.org/drawingml/2006/main">
            <a:off x="533400" y="1724025"/>
            <a:ext cx="78486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0" i="0">
                <a:solidFill>
                  <a:srgbClr val="263E35"/>
                </a:solidFill>
                <a:latin typeface="Georgia"/>
                <a:ea typeface="Georgia"/>
                <a:cs typeface="Georgia"/>
              </a:defRPr>
            </a:pPr>
            <a:r>
              <a:rPr sz="5400" b="0" i="0">
                <a:solidFill>
                  <a:srgbClr val="263E35"/>
                </a:solidFill>
                <a:latin typeface="Georgia"/>
                <a:ea typeface="Georgia"/>
                <a:cs typeface="Georgia"/>
              </a:rPr>
              <a:t>More product.</a:t>
            </a:r>
          </a:p>
          <a:p xmlns:a="http://schemas.openxmlformats.org/drawingml/2006/main">
            <a:pPr>
              <a:defRPr sz="5400" b="0" i="0">
                <a:solidFill>
                  <a:srgbClr val="263E35"/>
                </a:solidFill>
                <a:latin typeface="Georgia"/>
                <a:ea typeface="Georgia"/>
                <a:cs typeface="Georgia"/>
              </a:defRPr>
            </a:pPr>
            <a:r>
              <a:rPr sz="5400" b="0" i="0">
                <a:solidFill>
                  <a:srgbClr val="263E35"/>
                </a:solidFill>
                <a:latin typeface="Georgia"/>
                <a:ea typeface="Georgia"/>
                <a:cs typeface="Georgia"/>
              </a:rPr>
              <a:t>Less busywork.</a:t>
            </a:r>
          </a:p>
        </p:txBody>
      </p:sp>
      <p:sp>
        <p:nvSpPr>
          <p:cNvPr id="6" name="text-133">
            <a:extLst xmlns:a="http://schemas.openxmlformats.org/drawingml/2006/main">
              <a:ext uri="{FF2B5EF4-FFF2-40B4-BE49-F238E27FC236}">
                <a16:creationId xmlns:a16="http://schemas.microsoft.com/office/drawing/2014/main" id="{8FAB9A09-DA71-427A-86B4-54498270B474}"/>
              </a:ext>
            </a:extLst>
          </p:cNvPr>
          <p:cNvSpPr>
            <a:spLocks xmlns:a="http://schemas.openxmlformats.org/drawingml/2006/main" noGrp="1"/>
          </p:cNvSpPr>
          <p:nvPr/>
        </p:nvSpPr>
        <p:spPr>
          <a:xfrm xmlns:a="http://schemas.openxmlformats.org/drawingml/2006/main">
            <a:off x="533400" y="4114800"/>
            <a:ext cx="7553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i="0">
                <a:solidFill>
                  <a:srgbClr val="A75132"/>
                </a:solidFill>
                <a:latin typeface="Georgia"/>
                <a:ea typeface="Georgia"/>
                <a:cs typeface="Georgia"/>
              </a:defRPr>
            </a:pPr>
            <a:r>
              <a:rPr sz="3900" b="0" i="0">
                <a:solidFill>
                  <a:srgbClr val="A75132"/>
                </a:solidFill>
                <a:latin typeface="Georgia"/>
                <a:ea typeface="Georgia"/>
                <a:cs typeface="Georgia"/>
              </a:rPr>
              <a:t>RunMyStore</a:t>
            </a:r>
          </a:p>
        </p:txBody>
      </p:sp>
      <p:sp>
        <p:nvSpPr>
          <p:cNvPr id="7" name="text-134">
            <a:extLst xmlns:a="http://schemas.openxmlformats.org/drawingml/2006/main">
              <a:ext uri="{FF2B5EF4-FFF2-40B4-BE49-F238E27FC236}">
                <a16:creationId xmlns:a16="http://schemas.microsoft.com/office/drawing/2014/main" id="{DF64B509-0CAE-4FAA-9BA4-14422A08E549}"/>
              </a:ext>
            </a:extLst>
          </p:cNvPr>
          <p:cNvSpPr>
            <a:spLocks xmlns:a="http://schemas.openxmlformats.org/drawingml/2006/main" noGrp="1"/>
          </p:cNvSpPr>
          <p:nvPr/>
        </p:nvSpPr>
        <p:spPr>
          <a:xfrm xmlns:a="http://schemas.openxmlformats.org/drawingml/2006/main">
            <a:off x="533400" y="5114925"/>
            <a:ext cx="7543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i="0">
                <a:solidFill>
                  <a:srgbClr val="263E35"/>
                </a:solidFill>
                <a:latin typeface="Arial"/>
                <a:ea typeface="Arial"/>
                <a:cs typeface="Arial"/>
              </a:defRPr>
            </a:pPr>
            <a:r>
              <a:rPr sz="2100" b="0" i="0">
                <a:solidFill>
                  <a:srgbClr val="263E35"/>
                </a:solidFill>
                <a:latin typeface="Arial"/>
                <a:ea typeface="Arial"/>
                <a:cs typeface="Arial"/>
              </a:rPr>
              <a:t>Let’s follow a product through the workflow</a:t>
            </a:r>
          </a:p>
          <a:p xmlns:a="http://schemas.openxmlformats.org/drawingml/2006/main">
            <a:pPr>
              <a:defRPr sz="2100" b="0" i="0">
                <a:solidFill>
                  <a:srgbClr val="263E35"/>
                </a:solidFill>
                <a:latin typeface="Arial"/>
                <a:ea typeface="Arial"/>
                <a:cs typeface="Arial"/>
              </a:defRPr>
            </a:pPr>
            <a:r>
              <a:rPr sz="2100" b="0" i="0">
                <a:solidFill>
                  <a:srgbClr val="263E35"/>
                </a:solidFill>
                <a:latin typeface="Arial"/>
                <a:ea typeface="Arial"/>
                <a:cs typeface="Arial"/>
              </a:rPr>
              <a:t>and approve a campaign decision.</a:t>
            </a:r>
          </a:p>
        </p:txBody>
      </p:sp>
      <p:sp>
        <p:nvSpPr>
          <p:cNvPr id="8" name="text-135">
            <a:extLst xmlns:a="http://schemas.openxmlformats.org/drawingml/2006/main">
              <a:ext uri="{FF2B5EF4-FFF2-40B4-BE49-F238E27FC236}">
                <a16:creationId xmlns:a16="http://schemas.microsoft.com/office/drawing/2014/main" id="{58DFDA8B-D68D-43C9-9AAD-C57294520A1D}"/>
              </a:ext>
            </a:extLst>
          </p:cNvPr>
          <p:cNvSpPr>
            <a:spLocks xmlns:a="http://schemas.openxmlformats.org/drawingml/2006/main" noGrp="1"/>
          </p:cNvSpPr>
          <p:nvPr/>
        </p:nvSpPr>
        <p:spPr>
          <a:xfrm xmlns:a="http://schemas.openxmlformats.org/drawingml/2006/main">
            <a:off x="533400" y="62769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i="0">
                <a:solidFill>
                  <a:srgbClr val="657269"/>
                </a:solidFill>
                <a:latin typeface="Arial"/>
                <a:ea typeface="Arial"/>
                <a:cs typeface="Arial"/>
              </a:defRPr>
            </a:pPr>
            <a:r>
              <a:rPr sz="975" b="0" i="0">
                <a:solidFill>
                  <a:srgbClr val="657269"/>
                </a:solidFill>
                <a:latin typeface="Arial"/>
                <a:ea typeface="Arial"/>
                <a:cs typeface="Arial"/>
              </a:rPr>
              <a:t>Next: integrate AgenticOrg, connect a real test store and validate owner time saved.</a:t>
            </a:r>
          </a:p>
        </p:txBody>
      </p:sp>
    </p:spTree>
    <p:extLst>
      <p:ext uri="{BB962C8B-B14F-4D97-AF65-F5344CB8AC3E}">
        <p14:creationId xmlns:p14="http://schemas.microsoft.com/office/powerpoint/2010/main" val="16778686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2026-10-24T10:53:03.2640000Z</dcterms:created>
  <dcterms:modified xsi:type="dcterms:W3CDTF">2026-10-24T10:53:03.2640000Z</dcterms:modified>
</coreProperties>
</file>